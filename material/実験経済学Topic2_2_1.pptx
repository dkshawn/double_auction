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96" d="100"/>
          <a:sy n="96" d="100"/>
        </p:scale>
        <p:origin x="86"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9-10T02:16:01.851"/>
    </inkml:context>
    <inkml:brush xml:id="br0">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E93ADA0D-5279-403B-B851-29BD1BBFE8A2}" emma:medium="tactile" emma:mode="ink">
          <msink:context xmlns:msink="http://schemas.microsoft.com/ink/2010/main" type="inkDrawing" rotatedBoundingBox="7715,15602 7728,15598 7729,15601 7716,15605" shapeName="Other"/>
        </emma:interpretation>
      </emma:emma>
    </inkml:annotationXML>
    <inkml:trace contextRef="#ctx0" brushRef="#br0">13-1 403 0,'0'0'36'0,"0"0"-36"0,0 0 0 0,0 0 0 16,0 0 16-16,-9 0-4 0,9 0-1 0,-4 4 0 15,4-4-11-15,0 0 0 0</inkml:trace>
  </inkml:traceGroup>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9-10T02:21:23.766"/>
    </inkml:context>
    <inkml:brush xml:id="br0">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02BA59C9-F5AA-49F6-8E9A-4F7E1C2D2924}" emma:medium="tactile" emma:mode="ink">
          <msink:context xmlns:msink="http://schemas.microsoft.com/ink/2010/main" type="writingRegion" rotatedBoundingBox="10125,5017 10203,5017 10203,5052 10125,5052"/>
        </emma:interpretation>
      </emma:emma>
    </inkml:annotationXML>
    <inkml:traceGroup>
      <inkml:annotationXML>
        <emma:emma xmlns:emma="http://www.w3.org/2003/04/emma" version="1.0">
          <emma:interpretation id="{3488E290-7E32-46BE-AAB5-9C353F526C75}" emma:medium="tactile" emma:mode="ink">
            <msink:context xmlns:msink="http://schemas.microsoft.com/ink/2010/main" type="paragraph" rotatedBoundingBox="10125,5017 10203,5017 10203,5052 10125,5052" alignmentLevel="1"/>
          </emma:interpretation>
        </emma:emma>
      </inkml:annotationXML>
      <inkml:traceGroup>
        <inkml:annotationXML>
          <emma:emma xmlns:emma="http://www.w3.org/2003/04/emma" version="1.0">
            <emma:interpretation id="{26A95175-1572-4985-8840-242A99632899}" emma:medium="tactile" emma:mode="ink">
              <msink:context xmlns:msink="http://schemas.microsoft.com/ink/2010/main" type="line" rotatedBoundingBox="10125,5017 10203,5017 10203,5052 10125,5052"/>
            </emma:interpretation>
          </emma:emma>
        </inkml:annotationXML>
        <inkml:traceGroup>
          <inkml:annotationXML>
            <emma:emma xmlns:emma="http://www.w3.org/2003/04/emma" version="1.0">
              <emma:interpretation id="{D35CA046-9898-4DC4-9000-60F67AD44B3C}" emma:medium="tactile" emma:mode="ink">
                <msink:context xmlns:msink="http://schemas.microsoft.com/ink/2010/main" type="inkWord" rotatedBoundingBox="10125,5017 10203,5017 10203,5052 10125,5052"/>
              </emma:interpretation>
              <emma:one-of disjunction-type="recognition" id="oneOf0">
                <emma:interpretation id="interp0" emma:lang="" emma:confidence="0">
                  <emma:literal>へ</emma:literal>
                </emma:interpretation>
                <emma:interpretation id="interp1" emma:lang="" emma:confidence="0">
                  <emma:literal>ヘ</emma:literal>
                </emma:interpretation>
                <emma:interpretation id="interp2" emma:lang="" emma:confidence="0">
                  <emma:literal>\</emma:literal>
                </emma:interpretation>
                <emma:interpretation id="interp3" emma:lang="" emma:confidence="0">
                  <emma:literal>八</emma:literal>
                </emma:interpretation>
                <emma:interpretation id="interp4" emma:lang="" emma:confidence="0">
                  <emma:literal>`</emma:literal>
                </emma:interpretation>
              </emma:one-of>
            </emma:emma>
          </inkml:annotationXML>
          <inkml:trace contextRef="#ctx0" brushRef="#br0">21 0 1825 0,'-8'0'40'0,"8"0"8"0,0 0 1 0,-5 0 3 0,-3 0-41 0,8 0-11 16,0 0 0-16,0 0 0 0,8 0 0 0,-8 0 0 16,0 0 0-16,9 4 0 15,0 0-50-15,8 7-9 0,1-3-1 0,-1 0-1 0</inkml:trace>
        </inkml:traceGroup>
      </inkml:traceGroup>
    </inkml:traceGroup>
  </inkml:traceGroup>
</inkml:ink>
</file>

<file path=ppt/ink/ink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9-10T02:21:38.903"/>
    </inkml:context>
    <inkml:brush xml:id="br0">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A202195E-29F3-4E54-8AA3-7975C8C3C51E}" emma:medium="tactile" emma:mode="ink">
          <msink:context xmlns:msink="http://schemas.microsoft.com/ink/2010/main" type="inkDrawing" rotatedBoundingBox="16120,8989 16133,9004 16122,9014 16109,8999" shapeName="Other"/>
        </emma:interpretation>
      </emma:emma>
    </inkml:annotationXML>
    <inkml:trace contextRef="#ctx0" brushRef="#br0">13 15 1350 0,'-13'-15'60'0,"13"15"12"0,0 0-58 0,0 0-14 0,0 0 0 0,0 0-397 16,0 0-83-16</inkml:trace>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265985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881431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532888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1324028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2077918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1077711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422490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1848591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1100998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258682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D17DD7C-F394-4190-B8B8-4CFB4C73F482}" type="datetimeFigureOut">
              <a:rPr kumimoji="1" lang="ja-JP" altLang="en-US" smtClean="0"/>
              <a:t>2025/4/23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198694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17DD7C-F394-4190-B8B8-4CFB4C73F482}" type="datetimeFigureOut">
              <a:rPr kumimoji="1" lang="ja-JP" altLang="en-US" smtClean="0"/>
              <a:t>2025/4/23</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86C733-EA61-4714-948F-B5BD69CB256C}" type="slidenum">
              <a:rPr kumimoji="1" lang="ja-JP" altLang="en-US" smtClean="0"/>
              <a:t>‹#›</a:t>
            </a:fld>
            <a:endParaRPr kumimoji="1" lang="ja-JP" altLang="en-US"/>
          </a:p>
        </p:txBody>
      </p:sp>
    </p:spTree>
    <p:extLst>
      <p:ext uri="{BB962C8B-B14F-4D97-AF65-F5344CB8AC3E}">
        <p14:creationId xmlns:p14="http://schemas.microsoft.com/office/powerpoint/2010/main" val="4109675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customXml" Target="../ink/ink2.xml"/><Relationship Id="rId1" Type="http://schemas.openxmlformats.org/officeDocument/2006/relationships/slideLayout" Target="../slideLayouts/slideLayout1.xml"/><Relationship Id="rId5" Type="http://schemas.openxmlformats.org/officeDocument/2006/relationships/image" Target="../media/image11.emf"/><Relationship Id="rId4" Type="http://schemas.openxmlformats.org/officeDocument/2006/relationships/customXml" Target="../ink/ink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ボックス 9"/>
          <p:cNvSpPr txBox="1"/>
          <p:nvPr/>
        </p:nvSpPr>
        <p:spPr>
          <a:xfrm>
            <a:off x="683567" y="1874142"/>
            <a:ext cx="10671787" cy="2677656"/>
          </a:xfrm>
          <a:prstGeom prst="rect">
            <a:avLst/>
          </a:prstGeom>
          <a:noFill/>
        </p:spPr>
        <p:txBody>
          <a:bodyPr wrap="square" rtlCol="0">
            <a:spAutoFit/>
          </a:bodyPr>
          <a:lstStyle/>
          <a:p>
            <a:pPr algn="ctr"/>
            <a:r>
              <a:rPr lang="en-US" altLang="ja-JP" sz="2800" dirty="0">
                <a:latin typeface="Meiryo UI" panose="020B0604030504040204" pitchFamily="50" charset="-128"/>
                <a:ea typeface="Meiryo UI" panose="020B0604030504040204" pitchFamily="50" charset="-128"/>
              </a:rPr>
              <a:t>2025</a:t>
            </a:r>
            <a:r>
              <a:rPr lang="ja-JP" altLang="en-US" sz="2800" dirty="0">
                <a:latin typeface="Meiryo UI" panose="020B0604030504040204" pitchFamily="50" charset="-128"/>
                <a:ea typeface="Meiryo UI" panose="020B0604030504040204" pitchFamily="50" charset="-128"/>
              </a:rPr>
              <a:t>年度前期　実験経済学</a:t>
            </a:r>
            <a:endParaRPr lang="en-US" altLang="ja-JP" sz="2800" dirty="0">
              <a:latin typeface="Meiryo UI" panose="020B0604030504040204" pitchFamily="50" charset="-128"/>
              <a:ea typeface="Meiryo UI" panose="020B0604030504040204" pitchFamily="50" charset="-128"/>
            </a:endParaRPr>
          </a:p>
          <a:p>
            <a:pPr algn="ctr"/>
            <a:endParaRPr lang="en-US" altLang="ja-JP" sz="2800" dirty="0">
              <a:latin typeface="Meiryo UI" panose="020B0604030504040204" pitchFamily="50" charset="-128"/>
              <a:ea typeface="Meiryo UI" panose="020B0604030504040204" pitchFamily="50" charset="-128"/>
            </a:endParaRPr>
          </a:p>
          <a:p>
            <a:pPr algn="ctr"/>
            <a:r>
              <a:rPr lang="en-US" altLang="ja-JP" sz="2800" dirty="0">
                <a:latin typeface="Meiryo UI" panose="020B0604030504040204" pitchFamily="50" charset="-128"/>
                <a:ea typeface="Meiryo UI" panose="020B0604030504040204" pitchFamily="50" charset="-128"/>
                <a:cs typeface="Meiryo UI" panose="020B0604030504040204" pitchFamily="50" charset="-128"/>
              </a:rPr>
              <a:t>Topic</a:t>
            </a:r>
            <a:r>
              <a:rPr lang="ja-JP" altLang="en-US" sz="28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2800" dirty="0">
                <a:latin typeface="Meiryo UI" panose="020B0604030504040204" pitchFamily="50" charset="-128"/>
                <a:ea typeface="Meiryo UI" panose="020B0604030504040204" pitchFamily="50" charset="-128"/>
                <a:cs typeface="Meiryo UI" panose="020B0604030504040204" pitchFamily="50" charset="-128"/>
              </a:rPr>
              <a:t>2_2_1</a:t>
            </a:r>
            <a:r>
              <a:rPr lang="ja-JP" altLang="en-US" sz="2800" dirty="0">
                <a:latin typeface="Meiryo UI" panose="020B0604030504040204" pitchFamily="50" charset="-128"/>
                <a:ea typeface="Meiryo UI" panose="020B0604030504040204" pitchFamily="50" charset="-128"/>
                <a:cs typeface="Meiryo UI" panose="020B0604030504040204" pitchFamily="50" charset="-128"/>
              </a:rPr>
              <a:t>　ダブルオークション</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en-US" altLang="ja-JP" sz="2800" dirty="0">
                <a:latin typeface="Meiryo UI" panose="020B0604030504040204" pitchFamily="50" charset="-128"/>
                <a:ea typeface="Meiryo UI" panose="020B0604030504040204" pitchFamily="50" charset="-128"/>
                <a:cs typeface="Meiryo UI" panose="020B0604030504040204" pitchFamily="50" charset="-128"/>
              </a:rPr>
              <a:t>Hayek</a:t>
            </a:r>
            <a:r>
              <a:rPr lang="ja-JP" altLang="en-US" sz="2800" dirty="0">
                <a:latin typeface="Meiryo UI" panose="020B0604030504040204" pitchFamily="50" charset="-128"/>
                <a:ea typeface="Meiryo UI" panose="020B0604030504040204" pitchFamily="50" charset="-128"/>
                <a:cs typeface="Meiryo UI" panose="020B0604030504040204" pitchFamily="50" charset="-128"/>
              </a:rPr>
              <a:t>仮説の検証</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角丸四角形 8"/>
          <p:cNvSpPr/>
          <p:nvPr/>
        </p:nvSpPr>
        <p:spPr>
          <a:xfrm>
            <a:off x="683568" y="1426128"/>
            <a:ext cx="10961036" cy="32465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a:t>
            </a:fld>
            <a:endParaRPr kumimoji="1" lang="ja-JP" altLang="en-US"/>
          </a:p>
        </p:txBody>
      </p:sp>
    </p:spTree>
    <p:extLst>
      <p:ext uri="{BB962C8B-B14F-4D97-AF65-F5344CB8AC3E}">
        <p14:creationId xmlns:p14="http://schemas.microsoft.com/office/powerpoint/2010/main" val="1306988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4093428"/>
          </a:xfrm>
          <a:prstGeom prst="rect">
            <a:avLst/>
          </a:prstGeom>
          <a:noFill/>
        </p:spPr>
        <p:txBody>
          <a:bodyPr wrap="square" rtlCol="0">
            <a:spAutoFit/>
          </a:bodyPr>
          <a:lstStyle/>
          <a:p>
            <a:r>
              <a:rPr lang="ja-JP" altLang="en-US" sz="2000" dirty="0">
                <a:latin typeface="Meiryo UI" panose="020B0604030504040204" pitchFamily="50" charset="-128"/>
                <a:ea typeface="Meiryo UI" panose="020B0604030504040204" pitchFamily="50" charset="-128"/>
                <a:cs typeface="Meiryo UI" panose="020B0604030504040204" pitchFamily="50" charset="-128"/>
              </a:rPr>
              <a:t>具体的な例を用いて、選好の統制方法について確認する。</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今回取り上げるのは、以下の論文で行われたダブルオークション市場の実験である。</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これらは実験経済学の始まりともいえる論文であるが、マーケットメカニズムの安定性と効率性について</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Lab</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実験により実証分析をしている。</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cs typeface="Meiryo UI" panose="020B0604030504040204" pitchFamily="50" charset="-128"/>
              </a:rPr>
              <a:t>Markets as economizers of information: experimental examination of the “Hayek hypothesis”</a:t>
            </a:r>
          </a:p>
          <a:p>
            <a:r>
              <a:rPr lang="en-US" altLang="ja-JP" sz="2000" dirty="0">
                <a:latin typeface="Meiryo UI" panose="020B0604030504040204" pitchFamily="50" charset="-128"/>
                <a:ea typeface="Meiryo UI" panose="020B0604030504040204" pitchFamily="50" charset="-128"/>
                <a:cs typeface="Meiryo UI" panose="020B0604030504040204" pitchFamily="50" charset="-128"/>
              </a:rPr>
              <a:t>VL Smith - Economic Inquiry, 1982</a:t>
            </a: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cs typeface="Meiryo UI" panose="020B0604030504040204" pitchFamily="50" charset="-128"/>
              </a:rPr>
              <a:t>“Microeconomic systems as an experimental science”</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cs typeface="Meiryo UI" panose="020B0604030504040204" pitchFamily="50" charset="-128"/>
              </a:rPr>
              <a:t>VL Smith - The American Economic Review, 1982</a:t>
            </a: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2</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2151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37308" y="1484784"/>
            <a:ext cx="11007295" cy="4401205"/>
          </a:xfrm>
          <a:prstGeom prst="rect">
            <a:avLst/>
          </a:prstGeom>
          <a:noFill/>
        </p:spPr>
        <p:txBody>
          <a:bodyPr wrap="square" rtlCol="0">
            <a:spAutoFit/>
          </a:bodyPr>
          <a:lstStyle/>
          <a:p>
            <a:r>
              <a:rPr lang="ja-JP" altLang="en-US" sz="2000" dirty="0">
                <a:latin typeface="Meiryo UI" panose="020B0604030504040204" pitchFamily="50" charset="-128"/>
                <a:ea typeface="Meiryo UI" panose="020B0604030504040204" pitchFamily="50" charset="-128"/>
                <a:cs typeface="Meiryo UI" panose="020B0604030504040204" pitchFamily="50" charset="-128"/>
              </a:rPr>
              <a:t>ダブルオークションは</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NY</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証券取引所や東京取引所のザラ場でも用いられている一般的な取引形態である。</a:t>
            </a:r>
          </a:p>
          <a:p>
            <a:endParaRPr lang="ja-JP" altLang="en-US"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売り手が販売価格を</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Offer/Ask</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しても、買い手が購入価格を</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Bid</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しても良い（名前の由来）。</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売り手がオファーする場合は、まず任意に選ばれた売り手一人が１ユニットの販売価格をオファーする。取引時間内にそれ以外の売り手がオファーする。どの売り手がオファーしても良いが、現行オファーされている販売価格よりも低い価格のみ採用される。</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オファーされた販売価格は市場参加者に公開される。</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買い手が現れた時点で取引は成立する。また買い手が現れない場合は取引が成立しない。</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どちらの場合も次の</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Unit</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の取引に移る。</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市場は取引時間が終わるか、すべての</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units</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が取引されれば市場は閉められる。</a:t>
            </a:r>
          </a:p>
          <a:p>
            <a:endParaRPr lang="ja-JP" altLang="en-US"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買い手が</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Bid</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する場合も同様であるが、買い手の</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Bid</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は現行</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Bid</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された購入価格よりも高いもののみ採用される。その価格で売り手が現れれば取引成立である。</a:t>
            </a: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3</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実験１の背景：ダブルオークション市場</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19582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7" y="1375275"/>
            <a:ext cx="7368751" cy="5016758"/>
          </a:xfrm>
          <a:prstGeom prst="rect">
            <a:avLst/>
          </a:prstGeom>
          <a:noFill/>
        </p:spPr>
        <p:txBody>
          <a:bodyPr wrap="square" rtlCol="0">
            <a:spAutoFit/>
          </a:bodyPr>
          <a:lstStyle/>
          <a:p>
            <a:r>
              <a:rPr lang="ja-JP" altLang="en-US" sz="2000" dirty="0">
                <a:latin typeface="Meiryo UI" panose="020B0604030504040204" pitchFamily="50" charset="-128"/>
                <a:ea typeface="Meiryo UI" panose="020B0604030504040204" pitchFamily="50" charset="-128"/>
                <a:cs typeface="Meiryo UI" panose="020B0604030504040204" pitchFamily="50" charset="-128"/>
              </a:rPr>
              <a:t>実験１では、初期の実験経済学において盛んに議論されたテーマの一つである</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Hayek</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仮説に注目する。</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cs typeface="Meiryo UI" panose="020B0604030504040204" pitchFamily="50" charset="-128"/>
              </a:rPr>
              <a:t>Hayek</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仮説とは，市場メカニズムの安定性と効率性が，</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u="sng" dirty="0">
                <a:latin typeface="Meiryo UI" panose="020B0604030504040204" pitchFamily="50" charset="-128"/>
                <a:ea typeface="Meiryo UI" panose="020B0604030504040204" pitchFamily="50" charset="-128"/>
                <a:cs typeface="Meiryo UI" panose="020B0604030504040204" pitchFamily="50" charset="-128"/>
              </a:rPr>
              <a:t>主体の合理性に関する前提に依存しない</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という仮説である．</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具体的には，適切な取引制度の下で，</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u="sng" dirty="0">
                <a:latin typeface="Meiryo UI" panose="020B0604030504040204" pitchFamily="50" charset="-128"/>
                <a:ea typeface="Meiryo UI" panose="020B0604030504040204" pitchFamily="50" charset="-128"/>
                <a:cs typeface="Meiryo UI" panose="020B0604030504040204" pitchFamily="50" charset="-128"/>
              </a:rPr>
              <a:t>売り手は自身の財の生産費用を</a:t>
            </a:r>
            <a:endParaRPr lang="en-US" altLang="ja-JP" sz="2000" u="sng"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u="sng" dirty="0">
                <a:latin typeface="Meiryo UI" panose="020B0604030504040204" pitchFamily="50" charset="-128"/>
                <a:ea typeface="Meiryo UI" panose="020B0604030504040204" pitchFamily="50" charset="-128"/>
                <a:cs typeface="Meiryo UI" panose="020B0604030504040204" pitchFamily="50" charset="-128"/>
              </a:rPr>
              <a:t>買い手は自身の財に対する評価値を</a:t>
            </a:r>
            <a:endParaRPr lang="en-US" altLang="ja-JP" sz="2000" u="sng"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u="sng" dirty="0">
                <a:latin typeface="Meiryo UI" panose="020B0604030504040204" pitchFamily="50" charset="-128"/>
                <a:ea typeface="Meiryo UI" panose="020B0604030504040204" pitchFamily="50" charset="-128"/>
                <a:cs typeface="Meiryo UI" panose="020B0604030504040204" pitchFamily="50" charset="-128"/>
              </a:rPr>
              <a:t>知っていれば競争均衡達成にはそれで充分である。</a:t>
            </a:r>
            <a:endParaRPr lang="en-US" altLang="ja-JP" sz="2000" u="sng"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とするもの。</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ハイエク全集 </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第３巻</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個人主義と経済秩序</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　２　経済学と知識</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　４　社会における知識の利用</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　５　競争の意味</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　の各章を参照。</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4</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実験１の背景：</a:t>
            </a:r>
            <a:r>
              <a:rPr lang="en-US" altLang="ja-JP" sz="2800" dirty="0">
                <a:latin typeface="Meiryo UI" panose="020B0604030504040204" pitchFamily="50" charset="-128"/>
                <a:ea typeface="Meiryo UI" panose="020B0604030504040204" pitchFamily="50" charset="-128"/>
                <a:cs typeface="Meiryo UI" panose="020B0604030504040204" pitchFamily="50" charset="-128"/>
              </a:rPr>
              <a:t>Hayek</a:t>
            </a:r>
            <a:r>
              <a:rPr lang="ja-JP" altLang="en-US" sz="2800" dirty="0">
                <a:latin typeface="Meiryo UI" panose="020B0604030504040204" pitchFamily="50" charset="-128"/>
                <a:ea typeface="Meiryo UI" panose="020B0604030504040204" pitchFamily="50" charset="-128"/>
                <a:cs typeface="Meiryo UI" panose="020B0604030504040204" pitchFamily="50" charset="-128"/>
              </a:rPr>
              <a:t>仮説</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a:extLst>
              <a:ext uri="{FF2B5EF4-FFF2-40B4-BE49-F238E27FC236}">
                <a16:creationId xmlns:a16="http://schemas.microsoft.com/office/drawing/2014/main" id="{A7AE01DE-06F7-4DFC-AC6D-38E26D3B4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9006" y="1580372"/>
            <a:ext cx="2286000" cy="2857500"/>
          </a:xfrm>
          <a:prstGeom prst="rect">
            <a:avLst/>
          </a:prstGeom>
        </p:spPr>
      </p:pic>
      <p:sp>
        <p:nvSpPr>
          <p:cNvPr id="5" name="テキスト ボックス 4">
            <a:extLst>
              <a:ext uri="{FF2B5EF4-FFF2-40B4-BE49-F238E27FC236}">
                <a16:creationId xmlns:a16="http://schemas.microsoft.com/office/drawing/2014/main" id="{C98B8B3D-012D-4E09-A1B7-F9D5C092A1B6}"/>
              </a:ext>
            </a:extLst>
          </p:cNvPr>
          <p:cNvSpPr txBox="1"/>
          <p:nvPr/>
        </p:nvSpPr>
        <p:spPr>
          <a:xfrm>
            <a:off x="9475837" y="4609321"/>
            <a:ext cx="1754155" cy="338554"/>
          </a:xfrm>
          <a:prstGeom prst="rect">
            <a:avLst/>
          </a:prstGeom>
          <a:noFill/>
        </p:spPr>
        <p:txBody>
          <a:bodyPr wrap="square" rtlCol="0">
            <a:spAutoFit/>
          </a:bodyPr>
          <a:lstStyle/>
          <a:p>
            <a:r>
              <a:rPr lang="en-US" altLang="ja-JP" sz="1600" dirty="0"/>
              <a:t>Friedrich Hayek</a:t>
            </a:r>
            <a:endParaRPr kumimoji="1" lang="ja-JP" altLang="en-US" sz="1600" dirty="0"/>
          </a:p>
        </p:txBody>
      </p:sp>
      <p:pic>
        <p:nvPicPr>
          <p:cNvPr id="8" name="図 7">
            <a:extLst>
              <a:ext uri="{FF2B5EF4-FFF2-40B4-BE49-F238E27FC236}">
                <a16:creationId xmlns:a16="http://schemas.microsoft.com/office/drawing/2014/main" id="{2B83D376-0C2D-4CFE-9F9A-6927A658C501}"/>
              </a:ext>
            </a:extLst>
          </p:cNvPr>
          <p:cNvPicPr>
            <a:picLocks noChangeAspect="1"/>
          </p:cNvPicPr>
          <p:nvPr/>
        </p:nvPicPr>
        <p:blipFill>
          <a:blip r:embed="rId3"/>
          <a:stretch>
            <a:fillRect/>
          </a:stretch>
        </p:blipFill>
        <p:spPr>
          <a:xfrm>
            <a:off x="7325615" y="3434918"/>
            <a:ext cx="2020369" cy="2845590"/>
          </a:xfrm>
          <a:prstGeom prst="rect">
            <a:avLst/>
          </a:prstGeom>
        </p:spPr>
      </p:pic>
    </p:spTree>
    <p:extLst>
      <p:ext uri="{BB962C8B-B14F-4D97-AF65-F5344CB8AC3E}">
        <p14:creationId xmlns:p14="http://schemas.microsoft.com/office/powerpoint/2010/main" val="282846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3785652"/>
          </a:xfrm>
          <a:prstGeom prst="rect">
            <a:avLst/>
          </a:prstGeom>
          <a:noFill/>
        </p:spPr>
        <p:txBody>
          <a:bodyPr wrap="square" rtlCol="0">
            <a:spAutoFit/>
          </a:bodyPr>
          <a:lstStyle/>
          <a:p>
            <a:r>
              <a:rPr lang="ja-JP" altLang="en-US" sz="2000" dirty="0">
                <a:latin typeface="Meiryo UI" panose="020B0604030504040204" pitchFamily="50" charset="-128"/>
                <a:ea typeface="Meiryo UI" panose="020B0604030504040204" pitchFamily="50" charset="-128"/>
                <a:cs typeface="Meiryo UI" panose="020B0604030504040204" pitchFamily="50" charset="-128"/>
              </a:rPr>
              <a:t>一般的なミクロ経済学の均衡理論では以下が前提とされることが多いので、</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ハイエクの課す条件はかなり少ないことがわかる。</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また後で見るように、ダブルオークション市場もこれらの条件を満たしていない。</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u="sng" dirty="0">
                <a:latin typeface="Meiryo UI" panose="020B0604030504040204" pitchFamily="50" charset="-128"/>
                <a:ea typeface="Meiryo UI" panose="020B0604030504040204" pitchFamily="50" charset="-128"/>
                <a:cs typeface="Meiryo UI" panose="020B0604030504040204" pitchFamily="50" charset="-128"/>
              </a:rPr>
              <a:t>完全競争市場の条件</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１．合理的な主体</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２．多数の主体の存在＝プライステイカー</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３．市場への自由な退出と参入</a:t>
            </a: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４．情報の対称性</a:t>
            </a:r>
          </a:p>
          <a:p>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⇒完全競争均衡はパレートの意味で効率的である（部分均衡分析では余剰が最大化される）。</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2000" u="sng" dirty="0">
                <a:latin typeface="Meiryo UI" panose="020B0604030504040204" pitchFamily="50" charset="-128"/>
                <a:ea typeface="Meiryo UI" panose="020B0604030504040204" pitchFamily="50" charset="-128"/>
                <a:cs typeface="Meiryo UI" panose="020B0604030504040204" pitchFamily="50" charset="-128"/>
              </a:rPr>
              <a:t>厚生経済学の第一基本定理</a:t>
            </a: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5</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実験１の背景： </a:t>
            </a:r>
            <a:r>
              <a:rPr lang="en-US" altLang="ja-JP" sz="2800" dirty="0">
                <a:latin typeface="Meiryo UI" panose="020B0604030504040204" pitchFamily="50" charset="-128"/>
                <a:ea typeface="Meiryo UI" panose="020B0604030504040204" pitchFamily="50" charset="-128"/>
                <a:cs typeface="Meiryo UI" panose="020B0604030504040204" pitchFamily="50" charset="-128"/>
              </a:rPr>
              <a:t>Hayek</a:t>
            </a:r>
            <a:r>
              <a:rPr lang="ja-JP" altLang="en-US" sz="2800" dirty="0">
                <a:latin typeface="Meiryo UI" panose="020B0604030504040204" pitchFamily="50" charset="-128"/>
                <a:ea typeface="Meiryo UI" panose="020B0604030504040204" pitchFamily="50" charset="-128"/>
                <a:cs typeface="Meiryo UI" panose="020B0604030504040204" pitchFamily="50" charset="-128"/>
              </a:rPr>
              <a:t>仮説</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77251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5078313"/>
          </a:xfrm>
          <a:prstGeom prst="rect">
            <a:avLst/>
          </a:prstGeom>
          <a:noFill/>
        </p:spPr>
        <p:txBody>
          <a:bodyPr wrap="square" rtlCol="0">
            <a:spAutoFit/>
          </a:bodyPr>
          <a:lstStyle/>
          <a:p>
            <a:r>
              <a:rPr lang="ja-JP" altLang="en-US" dirty="0">
                <a:latin typeface="Meiryo UI" panose="020B0604030504040204" pitchFamily="50" charset="-128"/>
                <a:ea typeface="Meiryo UI" panose="020B0604030504040204" pitchFamily="50" charset="-128"/>
                <a:cs typeface="Meiryo UI" panose="020B0604030504040204" pitchFamily="50" charset="-128"/>
              </a:rPr>
              <a:t>マーケット年</a:t>
            </a:r>
            <a:r>
              <a:rPr lang="en-US" altLang="ja-JP" dirty="0">
                <a:latin typeface="Meiryo UI" panose="020B0604030504040204" pitchFamily="50" charset="-128"/>
                <a:ea typeface="Meiryo UI" panose="020B0604030504040204" pitchFamily="50" charset="-128"/>
                <a:cs typeface="Meiryo UI" panose="020B0604030504040204" pitchFamily="50" charset="-128"/>
              </a:rPr>
              <a:t>(market year)</a:t>
            </a:r>
            <a:r>
              <a:rPr lang="ja-JP" altLang="en-US" dirty="0">
                <a:latin typeface="Meiryo UI" panose="020B0604030504040204" pitchFamily="50" charset="-128"/>
                <a:ea typeface="Meiryo UI" panose="020B0604030504040204" pitchFamily="50" charset="-128"/>
                <a:cs typeface="Meiryo UI" panose="020B0604030504040204" pitchFamily="50" charset="-128"/>
              </a:rPr>
              <a:t>は実験では６年（</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６回）繰り返される。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各年</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は実験では</a:t>
            </a:r>
            <a:r>
              <a:rPr lang="en-US" altLang="ja-JP" dirty="0">
                <a:latin typeface="Meiryo UI" panose="020B0604030504040204" pitchFamily="50" charset="-128"/>
                <a:ea typeface="Meiryo UI" panose="020B0604030504040204" pitchFamily="50" charset="-128"/>
                <a:cs typeface="Meiryo UI" panose="020B0604030504040204" pitchFamily="50" charset="-128"/>
              </a:rPr>
              <a:t>5</a:t>
            </a:r>
            <a:r>
              <a:rPr lang="ja-JP" altLang="en-US" dirty="0">
                <a:latin typeface="Meiryo UI" panose="020B0604030504040204" pitchFamily="50" charset="-128"/>
                <a:ea typeface="Meiryo UI" panose="020B0604030504040204" pitchFamily="50" charset="-128"/>
                <a:cs typeface="Meiryo UI" panose="020B0604030504040204" pitchFamily="50" charset="-128"/>
              </a:rPr>
              <a:t>分とする。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各実験では固定された被験者の参加者を前提にする。各組の被験者数は</a:t>
            </a:r>
            <a:r>
              <a:rPr lang="en-US" altLang="ja-JP" dirty="0">
                <a:latin typeface="Meiryo UI" panose="020B0604030504040204" pitchFamily="50" charset="-128"/>
                <a:ea typeface="Meiryo UI" panose="020B0604030504040204" pitchFamily="50" charset="-128"/>
                <a:cs typeface="Meiryo UI" panose="020B0604030504040204" pitchFamily="50" charset="-128"/>
              </a:rPr>
              <a:t>8</a:t>
            </a:r>
            <a:r>
              <a:rPr lang="ja-JP" altLang="en-US" dirty="0">
                <a:latin typeface="Meiryo UI" panose="020B0604030504040204" pitchFamily="50" charset="-128"/>
                <a:ea typeface="Meiryo UI" panose="020B0604030504040204" pitchFamily="50" charset="-128"/>
                <a:cs typeface="Meiryo UI" panose="020B0604030504040204" pitchFamily="50" charset="-128"/>
              </a:rPr>
              <a:t>人である。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被験者は証券を販売する</a:t>
            </a:r>
            <a:r>
              <a:rPr lang="en-US" altLang="ja-JP" dirty="0">
                <a:latin typeface="Meiryo UI" panose="020B0604030504040204" pitchFamily="50" charset="-128"/>
                <a:ea typeface="Meiryo UI" panose="020B0604030504040204" pitchFamily="50" charset="-128"/>
                <a:cs typeface="Meiryo UI" panose="020B0604030504040204" pitchFamily="50" charset="-128"/>
              </a:rPr>
              <a:t>4</a:t>
            </a:r>
            <a:r>
              <a:rPr lang="ja-JP" altLang="en-US" dirty="0">
                <a:latin typeface="Meiryo UI" panose="020B0604030504040204" pitchFamily="50" charset="-128"/>
                <a:ea typeface="Meiryo UI" panose="020B0604030504040204" pitchFamily="50" charset="-128"/>
                <a:cs typeface="Meiryo UI" panose="020B0604030504040204" pitchFamily="50" charset="-128"/>
              </a:rPr>
              <a:t>人の</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と購入する</a:t>
            </a:r>
            <a:r>
              <a:rPr lang="en-US" altLang="ja-JP" dirty="0">
                <a:latin typeface="Meiryo UI" panose="020B0604030504040204" pitchFamily="50" charset="-128"/>
                <a:ea typeface="Meiryo UI" panose="020B0604030504040204" pitchFamily="50" charset="-128"/>
                <a:cs typeface="Meiryo UI" panose="020B0604030504040204" pitchFamily="50" charset="-128"/>
              </a:rPr>
              <a:t>4</a:t>
            </a:r>
            <a:r>
              <a:rPr lang="ja-JP" altLang="en-US" dirty="0">
                <a:latin typeface="Meiryo UI" panose="020B0604030504040204" pitchFamily="50" charset="-128"/>
                <a:ea typeface="Meiryo UI" panose="020B0604030504040204" pitchFamily="50" charset="-128"/>
                <a:cs typeface="Meiryo UI" panose="020B0604030504040204" pitchFamily="50" charset="-128"/>
              </a:rPr>
              <a:t>人</a:t>
            </a:r>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に分けられる。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各自の</a:t>
            </a:r>
            <a:r>
              <a:rPr lang="ja-JP" altLang="en-US" u="sng" dirty="0">
                <a:latin typeface="Meiryo UI" panose="020B0604030504040204" pitchFamily="50" charset="-128"/>
                <a:ea typeface="Meiryo UI" panose="020B0604030504040204" pitchFamily="50" charset="-128"/>
                <a:cs typeface="Meiryo UI" panose="020B0604030504040204" pitchFamily="50" charset="-128"/>
              </a:rPr>
              <a:t>売買能力は３ユニット</a:t>
            </a:r>
            <a:r>
              <a:rPr lang="ja-JP" altLang="en-US" dirty="0">
                <a:latin typeface="Meiryo UI" panose="020B0604030504040204" pitchFamily="50" charset="-128"/>
                <a:ea typeface="Meiryo UI" panose="020B0604030504040204" pitchFamily="50" charset="-128"/>
                <a:cs typeface="Meiryo UI" panose="020B0604030504040204" pitchFamily="50" charset="-128"/>
              </a:rPr>
              <a:t>である。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各年</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における被験者の財の評価（</a:t>
            </a:r>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）や費用条件（</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）は変わらない。</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したがって被験者は同じ条件の取引を</a:t>
            </a:r>
            <a:r>
              <a:rPr lang="en-US" altLang="ja-JP" dirty="0">
                <a:latin typeface="Meiryo UI" panose="020B0604030504040204" pitchFamily="50" charset="-128"/>
                <a:ea typeface="Meiryo UI" panose="020B0604030504040204" pitchFamily="50" charset="-128"/>
                <a:cs typeface="Meiryo UI" panose="020B0604030504040204" pitchFamily="50" charset="-128"/>
              </a:rPr>
              <a:t>6</a:t>
            </a:r>
            <a:r>
              <a:rPr lang="ja-JP" altLang="en-US" dirty="0">
                <a:latin typeface="Meiryo UI" panose="020B0604030504040204" pitchFamily="50" charset="-128"/>
                <a:ea typeface="Meiryo UI" panose="020B0604030504040204" pitchFamily="50" charset="-128"/>
                <a:cs typeface="Meiryo UI" panose="020B0604030504040204" pitchFamily="50" charset="-128"/>
              </a:rPr>
              <a:t>回繰り返すことになる。</a:t>
            </a:r>
          </a:p>
          <a:p>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役の被験者には各年の初めに３ユニットの証券（</a:t>
            </a:r>
            <a:r>
              <a:rPr lang="en-US" altLang="ja-JP" dirty="0">
                <a:latin typeface="Meiryo UI" panose="020B0604030504040204" pitchFamily="50" charset="-128"/>
                <a:ea typeface="Meiryo UI" panose="020B0604030504040204" pitchFamily="50" charset="-128"/>
                <a:cs typeface="Meiryo UI" panose="020B0604030504040204" pitchFamily="50" charset="-128"/>
              </a:rPr>
              <a:t>Certificate</a:t>
            </a:r>
            <a:r>
              <a:rPr lang="ja-JP" altLang="en-US" dirty="0">
                <a:latin typeface="Meiryo UI" panose="020B0604030504040204" pitchFamily="50" charset="-128"/>
                <a:ea typeface="Meiryo UI" panose="020B0604030504040204" pitchFamily="50" charset="-128"/>
                <a:cs typeface="Meiryo UI" panose="020B0604030504040204" pitchFamily="50" charset="-128"/>
              </a:rPr>
              <a:t>）が与えられている。</a:t>
            </a:r>
          </a:p>
          <a:p>
            <a:r>
              <a:rPr lang="ja-JP" altLang="en-US" dirty="0">
                <a:latin typeface="Meiryo UI" panose="020B0604030504040204" pitchFamily="50" charset="-128"/>
                <a:ea typeface="Meiryo UI" panose="020B0604030504040204" pitchFamily="50" charset="-128"/>
                <a:cs typeface="Meiryo UI" panose="020B0604030504040204" pitchFamily="50" charset="-128"/>
              </a:rPr>
              <a:t>またそれらの供給量は各年で同じである。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役の供給者は十分な資金を持つとする。したがってこの実験では資金制約は考えない。</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取引される資産の期限は</a:t>
            </a:r>
            <a:r>
              <a:rPr lang="en-US" altLang="ja-JP" dirty="0">
                <a:latin typeface="Meiryo UI" panose="020B0604030504040204" pitchFamily="50" charset="-128"/>
                <a:ea typeface="Meiryo UI" panose="020B0604030504040204" pitchFamily="50" charset="-128"/>
                <a:cs typeface="Meiryo UI" panose="020B0604030504040204" pitchFamily="50" charset="-128"/>
              </a:rPr>
              <a:t>1</a:t>
            </a:r>
            <a:r>
              <a:rPr lang="ja-JP" altLang="en-US" dirty="0">
                <a:latin typeface="Meiryo UI" panose="020B0604030504040204" pitchFamily="50" charset="-128"/>
                <a:ea typeface="Meiryo UI" panose="020B0604030504040204" pitchFamily="50" charset="-128"/>
                <a:cs typeface="Meiryo UI" panose="020B0604030504040204" pitchFamily="50" charset="-128"/>
              </a:rPr>
              <a:t>年</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である。</a:t>
            </a:r>
            <a:r>
              <a:rPr lang="en-US" altLang="ja-JP" dirty="0">
                <a:latin typeface="Meiryo UI" panose="020B0604030504040204" pitchFamily="50" charset="-128"/>
                <a:ea typeface="Meiryo UI" panose="020B0604030504040204" pitchFamily="50" charset="-128"/>
                <a:cs typeface="Meiryo UI" panose="020B0604030504040204" pitchFamily="50" charset="-128"/>
              </a:rPr>
              <a:t>1</a:t>
            </a:r>
            <a:r>
              <a:rPr lang="ja-JP" altLang="en-US" dirty="0">
                <a:latin typeface="Meiryo UI" panose="020B0604030504040204" pitchFamily="50" charset="-128"/>
                <a:ea typeface="Meiryo UI" panose="020B0604030504040204" pitchFamily="50" charset="-128"/>
                <a:cs typeface="Meiryo UI" panose="020B0604030504040204" pitchFamily="50" charset="-128"/>
              </a:rPr>
              <a:t>年</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ごとに以下のように利得を清算する。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6</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実験１の設定</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88027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4524315"/>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の選好は次のように評価値を外から与えることで誘導される。</a:t>
            </a:r>
          </a:p>
          <a:p>
            <a:r>
              <a:rPr lang="en-US" altLang="ja-JP" dirty="0">
                <a:latin typeface="Meiryo UI" panose="020B0604030504040204" pitchFamily="50" charset="-128"/>
                <a:ea typeface="Meiryo UI" panose="020B0604030504040204" pitchFamily="50" charset="-128"/>
                <a:cs typeface="Meiryo UI" panose="020B0604030504040204" pitchFamily="50" charset="-128"/>
              </a:rPr>
              <a:t>$8.50 for unit 1, $7.45 for unit 2, and $7.30 for unit 3</a:t>
            </a:r>
            <a:r>
              <a:rPr lang="ja-JP" altLang="en-US" dirty="0">
                <a:latin typeface="Meiryo UI" panose="020B0604030504040204" pitchFamily="50" charset="-128"/>
                <a:ea typeface="Meiryo UI" panose="020B0604030504040204" pitchFamily="50" charset="-128"/>
                <a:cs typeface="Meiryo UI" panose="020B0604030504040204" pitchFamily="50" charset="-128"/>
              </a:rPr>
              <a:t>　⇒　実験１での値はファイルで指定</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さらに</a:t>
            </a:r>
            <a:r>
              <a:rPr lang="ja-JP" altLang="en-US" u="sng" dirty="0">
                <a:latin typeface="Meiryo UI" panose="020B0604030504040204" pitchFamily="50" charset="-128"/>
                <a:ea typeface="Meiryo UI" panose="020B0604030504040204" pitchFamily="50" charset="-128"/>
                <a:cs typeface="Meiryo UI" panose="020B0604030504040204" pitchFamily="50" charset="-128"/>
              </a:rPr>
              <a:t>彼／彼女の利得（得点）はこの評価値から購入価格を差し引いたもの＋取引の</a:t>
            </a:r>
            <a:r>
              <a:rPr lang="en-US" altLang="ja-JP" u="sng" dirty="0">
                <a:latin typeface="Meiryo UI" panose="020B0604030504040204" pitchFamily="50" charset="-128"/>
                <a:ea typeface="Meiryo UI" panose="020B0604030504040204" pitchFamily="50" charset="-128"/>
                <a:cs typeface="Meiryo UI" panose="020B0604030504040204" pitchFamily="50" charset="-128"/>
              </a:rPr>
              <a:t>commission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である。</a:t>
            </a:r>
          </a:p>
          <a:p>
            <a:r>
              <a:rPr lang="ja-JP" altLang="en-US" dirty="0">
                <a:latin typeface="Meiryo UI" panose="020B0604030504040204" pitchFamily="50" charset="-128"/>
                <a:ea typeface="Meiryo UI" panose="020B0604030504040204" pitchFamily="50" charset="-128"/>
                <a:cs typeface="Meiryo UI" panose="020B0604030504040204" pitchFamily="50" charset="-128"/>
              </a:rPr>
              <a:t>これにより限界評価に沿った意思決定を行うことになり、需要関数が誘導される（買い手のタイプはいくつかある）。</a:t>
            </a:r>
          </a:p>
          <a:p>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同様に</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err="1">
                <a:latin typeface="Meiryo UI" panose="020B0604030504040204" pitchFamily="50" charset="-128"/>
                <a:ea typeface="Meiryo UI" panose="020B0604030504040204" pitchFamily="50" charset="-128"/>
                <a:cs typeface="Meiryo UI" panose="020B0604030504040204" pitchFamily="50" charset="-128"/>
              </a:rPr>
              <a:t>には</a:t>
            </a:r>
            <a:r>
              <a:rPr lang="ja-JP" altLang="en-US" dirty="0">
                <a:latin typeface="Meiryo UI" panose="020B0604030504040204" pitchFamily="50" charset="-128"/>
                <a:ea typeface="Meiryo UI" panose="020B0604030504040204" pitchFamily="50" charset="-128"/>
                <a:cs typeface="Meiryo UI" panose="020B0604030504040204" pitchFamily="50" charset="-128"/>
              </a:rPr>
              <a:t>以下のように費用条件が与えられる。</a:t>
            </a:r>
          </a:p>
          <a:p>
            <a:r>
              <a:rPr lang="en-US" altLang="ja-JP" dirty="0">
                <a:latin typeface="Meiryo UI" panose="020B0604030504040204" pitchFamily="50" charset="-128"/>
                <a:ea typeface="Meiryo UI" panose="020B0604030504040204" pitchFamily="50" charset="-128"/>
                <a:cs typeface="Meiryo UI" panose="020B0604030504040204" pitchFamily="50" charset="-128"/>
              </a:rPr>
              <a:t>costs of $6.60 for unit 1, $7.65 for unit 2, and $7.80 for unit 3</a:t>
            </a:r>
            <a:r>
              <a:rPr lang="ja-JP" altLang="en-US" dirty="0">
                <a:latin typeface="Meiryo UI" panose="020B0604030504040204" pitchFamily="50" charset="-128"/>
                <a:ea typeface="Meiryo UI" panose="020B0604030504040204" pitchFamily="50" charset="-128"/>
                <a:cs typeface="Meiryo UI" panose="020B0604030504040204" pitchFamily="50" charset="-128"/>
              </a:rPr>
              <a:t>　⇒　実験１での値はファイルで指定</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さらに</a:t>
            </a:r>
            <a:r>
              <a:rPr lang="ja-JP" altLang="en-US" u="sng" dirty="0">
                <a:latin typeface="Meiryo UI" panose="020B0604030504040204" pitchFamily="50" charset="-128"/>
                <a:ea typeface="Meiryo UI" panose="020B0604030504040204" pitchFamily="50" charset="-128"/>
                <a:cs typeface="Meiryo UI" panose="020B0604030504040204" pitchFamily="50" charset="-128"/>
              </a:rPr>
              <a:t>彼／彼女の利得（得点）は販売価格からこの費用値を差し引いたもの＋取引の</a:t>
            </a:r>
            <a:r>
              <a:rPr lang="en-US" altLang="ja-JP" u="sng" dirty="0">
                <a:latin typeface="Meiryo UI" panose="020B0604030504040204" pitchFamily="50" charset="-128"/>
                <a:ea typeface="Meiryo UI" panose="020B0604030504040204" pitchFamily="50" charset="-128"/>
                <a:cs typeface="Meiryo UI" panose="020B0604030504040204" pitchFamily="50" charset="-128"/>
              </a:rPr>
              <a:t>commission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である。</a:t>
            </a:r>
          </a:p>
          <a:p>
            <a:r>
              <a:rPr lang="ja-JP" altLang="en-US" dirty="0">
                <a:latin typeface="Meiryo UI" panose="020B0604030504040204" pitchFamily="50" charset="-128"/>
                <a:ea typeface="Meiryo UI" panose="020B0604030504040204" pitchFamily="50" charset="-128"/>
                <a:cs typeface="Meiryo UI" panose="020B0604030504040204" pitchFamily="50" charset="-128"/>
              </a:rPr>
              <a:t>これにより限界費用に沿った意思決定を行うことになり、供給関数が誘導される（売り手のタイプはいくつかある） 。</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これらの選好に関する情報は個人情報である。</a:t>
            </a:r>
            <a:r>
              <a:rPr lang="ja-JP" altLang="en-US" u="sng" dirty="0">
                <a:latin typeface="Meiryo UI" panose="020B0604030504040204" pitchFamily="50" charset="-128"/>
                <a:ea typeface="Meiryo UI" panose="020B0604030504040204" pitchFamily="50" charset="-128"/>
                <a:cs typeface="Meiryo UI" panose="020B0604030504040204" pitchFamily="50" charset="-128"/>
              </a:rPr>
              <a:t>見ても見せてもダメ</a:t>
            </a:r>
            <a:r>
              <a:rPr lang="ja-JP" altLang="en-US" dirty="0">
                <a:latin typeface="Meiryo UI" panose="020B0604030504040204" pitchFamily="50" charset="-128"/>
                <a:ea typeface="Meiryo UI" panose="020B0604030504040204" pitchFamily="50" charset="-128"/>
                <a:cs typeface="Meiryo UI" panose="020B0604030504040204" pitchFamily="50" charset="-128"/>
              </a:rPr>
              <a:t>。</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a:t>
            </a:r>
            <a:r>
              <a:rPr lang="ja-JP" altLang="en-US" dirty="0">
                <a:latin typeface="Meiryo UI" panose="020B0604030504040204" pitchFamily="50" charset="-128"/>
                <a:ea typeface="Meiryo UI" panose="020B0604030504040204" pitchFamily="50" charset="-128"/>
                <a:cs typeface="Meiryo UI" panose="020B0604030504040204" pitchFamily="50" charset="-128"/>
              </a:rPr>
              <a:t>利得に「＋取引の</a:t>
            </a:r>
            <a:r>
              <a:rPr lang="en-US" altLang="ja-JP" dirty="0">
                <a:latin typeface="Meiryo UI" panose="020B0604030504040204" pitchFamily="50" charset="-128"/>
                <a:ea typeface="Meiryo UI" panose="020B0604030504040204" pitchFamily="50" charset="-128"/>
                <a:cs typeface="Meiryo UI" panose="020B0604030504040204" pitchFamily="50" charset="-128"/>
              </a:rPr>
              <a:t>commission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」とするのは評価値や限界費用と同じ市場価格においても取引を促すためである。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これは市場実験ではよく置かれる仮定。</a:t>
            </a: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7</a:t>
            </a:fld>
            <a:endParaRPr kumimoji="1" lang="ja-JP" altLang="en-US"/>
          </a:p>
        </p:txBody>
      </p:sp>
      <p:sp>
        <p:nvSpPr>
          <p:cNvPr id="8" name="テキスト ボックス 7">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実験１の設定</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p14="http://schemas.microsoft.com/office/powerpoint/2010/main">
        <mc:Choice Requires="p14">
          <p:contentPart p14:bwMode="auto" r:id="rId2">
            <p14:nvContentPartPr>
              <p14:cNvPr id="50" name="インク 49"/>
              <p14:cNvContentPartPr/>
              <p14:nvPr/>
            </p14:nvContentPartPr>
            <p14:xfrm>
              <a:off x="2778011" y="5617047"/>
              <a:ext cx="5040" cy="1440"/>
            </p14:xfrm>
          </p:contentPart>
        </mc:Choice>
        <mc:Fallback xmlns="">
          <p:pic>
            <p:nvPicPr>
              <p:cNvPr id="50" name="インク 49"/>
              <p:cNvPicPr/>
              <p:nvPr/>
            </p:nvPicPr>
            <p:blipFill>
              <a:blip r:embed="rId3"/>
              <a:stretch>
                <a:fillRect/>
              </a:stretch>
            </p:blipFill>
            <p:spPr>
              <a:xfrm>
                <a:off x="2770811" y="5609847"/>
                <a:ext cx="19080" cy="15840"/>
              </a:xfrm>
              <a:prstGeom prst="rect">
                <a:avLst/>
              </a:prstGeom>
            </p:spPr>
          </p:pic>
        </mc:Fallback>
      </mc:AlternateContent>
    </p:spTree>
    <p:extLst>
      <p:ext uri="{BB962C8B-B14F-4D97-AF65-F5344CB8AC3E}">
        <p14:creationId xmlns:p14="http://schemas.microsoft.com/office/powerpoint/2010/main" val="2592474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3139321"/>
          </a:xfrm>
          <a:prstGeom prst="rect">
            <a:avLst/>
          </a:prstGeom>
          <a:noFill/>
        </p:spPr>
        <p:txBody>
          <a:bodyPr wrap="square" rtlCol="0">
            <a:spAutoFit/>
          </a:bodyPr>
          <a:lstStyle/>
          <a:p>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この実験設定で注目すべき点</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ja-JP" altLang="en-US"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・選好はコントロールされるが、意思決定の合理性に関しては、この実験では前提とされない。</a:t>
            </a: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・一般に完全競争市場で前提にされるように、売り手や買い手はプライステイカーとしてはふるまわない。</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むしろ交渉によるプライスメイカーである。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・市場参加者数は完全競争市場で前提にされるように多くない。さらに参入退出の自由はない。</a:t>
            </a: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・個人の情報（誘発された選好）については秘匿（一律私的情報）されている。</a:t>
            </a: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8</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実験１の設定：注目すべき点</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20502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1457758" y="1129959"/>
            <a:ext cx="8518512" cy="5574305"/>
          </a:xfrm>
          <a:prstGeom prst="rect">
            <a:avLst/>
          </a:prstGeom>
        </p:spPr>
      </p:pic>
      <p:sp>
        <p:nvSpPr>
          <p:cNvPr id="4" name="テキスト ボックス 3"/>
          <p:cNvSpPr txBox="1"/>
          <p:nvPr/>
        </p:nvSpPr>
        <p:spPr>
          <a:xfrm>
            <a:off x="1259355" y="510155"/>
            <a:ext cx="10023870" cy="646331"/>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cs typeface="Meiryo UI" panose="020B0604030504040204" pitchFamily="50" charset="-128"/>
              </a:rPr>
              <a:t>※</a:t>
            </a:r>
            <a:r>
              <a:rPr lang="ja-JP" altLang="en-US" dirty="0">
                <a:latin typeface="Meiryo UI" panose="020B0604030504040204" pitchFamily="50" charset="-128"/>
                <a:ea typeface="Meiryo UI" panose="020B0604030504040204" pitchFamily="50" charset="-128"/>
                <a:cs typeface="Meiryo UI" panose="020B0604030504040204" pitchFamily="50" charset="-128"/>
              </a:rPr>
              <a:t>参考　価値誘発理論による選好の誘導の例　</a:t>
            </a:r>
            <a:r>
              <a:rPr lang="en-US" altLang="ja-JP" dirty="0">
                <a:latin typeface="Meiryo UI" panose="020B0604030504040204" pitchFamily="50" charset="-128"/>
                <a:ea typeface="Meiryo UI" panose="020B0604030504040204" pitchFamily="50" charset="-128"/>
                <a:cs typeface="Meiryo UI" panose="020B0604030504040204" pitchFamily="50" charset="-128"/>
              </a:rPr>
              <a:t>Microeconomic systems as an experimental science</a:t>
            </a:r>
            <a:r>
              <a:rPr lang="ja-JP" altLang="en-US" dirty="0">
                <a:latin typeface="Meiryo UI" panose="020B0604030504040204" pitchFamily="50" charset="-128"/>
                <a:ea typeface="Meiryo UI" panose="020B0604030504040204" pitchFamily="50" charset="-128"/>
                <a:cs typeface="Meiryo UI" panose="020B0604030504040204" pitchFamily="50" charset="-128"/>
              </a:rPr>
              <a:t>　</a:t>
            </a:r>
            <a:r>
              <a:rPr lang="en-US" altLang="ja-JP" dirty="0">
                <a:latin typeface="Meiryo UI" panose="020B0604030504040204" pitchFamily="50" charset="-128"/>
                <a:ea typeface="Meiryo UI" panose="020B0604030504040204" pitchFamily="50" charset="-128"/>
                <a:cs typeface="Meiryo UI" panose="020B0604030504040204" pitchFamily="50" charset="-128"/>
              </a:rPr>
              <a:t>VL Smith - The American Economic Review, 1982</a:t>
            </a:r>
            <a:r>
              <a:rPr lang="ja-JP" altLang="en-US" dirty="0">
                <a:latin typeface="Meiryo UI" panose="020B0604030504040204" pitchFamily="50" charset="-128"/>
                <a:ea typeface="Meiryo UI" panose="020B0604030504040204" pitchFamily="50" charset="-128"/>
                <a:cs typeface="Meiryo UI" panose="020B0604030504040204" pitchFamily="50" charset="-128"/>
              </a:rPr>
              <a:t>より</a:t>
            </a:r>
          </a:p>
        </p:txBody>
      </p:sp>
      <p:sp>
        <p:nvSpPr>
          <p:cNvPr id="6"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02434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10</a:t>
            </a:fld>
            <a:endParaRPr kumimoji="1" lang="ja-JP" altLang="en-US"/>
          </a:p>
        </p:txBody>
      </p:sp>
      <p:pic>
        <p:nvPicPr>
          <p:cNvPr id="3" name="図 2"/>
          <p:cNvPicPr>
            <a:picLocks noChangeAspect="1"/>
          </p:cNvPicPr>
          <p:nvPr/>
        </p:nvPicPr>
        <p:blipFill>
          <a:blip r:embed="rId2"/>
          <a:stretch>
            <a:fillRect/>
          </a:stretch>
        </p:blipFill>
        <p:spPr>
          <a:xfrm>
            <a:off x="1219288" y="1532259"/>
            <a:ext cx="9753423" cy="3793481"/>
          </a:xfrm>
          <a:prstGeom prst="rect">
            <a:avLst/>
          </a:prstGeom>
        </p:spPr>
      </p:pic>
      <p:sp>
        <p:nvSpPr>
          <p:cNvPr id="5" name="テキスト ボックス 4"/>
          <p:cNvSpPr txBox="1"/>
          <p:nvPr/>
        </p:nvSpPr>
        <p:spPr>
          <a:xfrm>
            <a:off x="1259355" y="510155"/>
            <a:ext cx="10023870" cy="646331"/>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cs typeface="Meiryo UI" panose="020B0604030504040204" pitchFamily="50" charset="-128"/>
              </a:rPr>
              <a:t>※</a:t>
            </a:r>
            <a:r>
              <a:rPr lang="ja-JP" altLang="en-US" dirty="0">
                <a:latin typeface="Meiryo UI" panose="020B0604030504040204" pitchFamily="50" charset="-128"/>
                <a:ea typeface="Meiryo UI" panose="020B0604030504040204" pitchFamily="50" charset="-128"/>
                <a:cs typeface="Meiryo UI" panose="020B0604030504040204" pitchFamily="50" charset="-128"/>
              </a:rPr>
              <a:t>参考　価値誘発理論による選好の誘導の例　</a:t>
            </a:r>
            <a:r>
              <a:rPr lang="en-US" altLang="ja-JP" dirty="0">
                <a:latin typeface="Meiryo UI" panose="020B0604030504040204" pitchFamily="50" charset="-128"/>
                <a:ea typeface="Meiryo UI" panose="020B0604030504040204" pitchFamily="50" charset="-128"/>
                <a:cs typeface="Meiryo UI" panose="020B0604030504040204" pitchFamily="50" charset="-128"/>
              </a:rPr>
              <a:t>Microeconomic systems as an experimental science</a:t>
            </a:r>
            <a:r>
              <a:rPr lang="ja-JP" altLang="en-US" dirty="0">
                <a:latin typeface="Meiryo UI" panose="020B0604030504040204" pitchFamily="50" charset="-128"/>
                <a:ea typeface="Meiryo UI" panose="020B0604030504040204" pitchFamily="50" charset="-128"/>
                <a:cs typeface="Meiryo UI" panose="020B0604030504040204" pitchFamily="50" charset="-128"/>
              </a:rPr>
              <a:t>　</a:t>
            </a:r>
            <a:r>
              <a:rPr lang="en-US" altLang="ja-JP" dirty="0">
                <a:latin typeface="Meiryo UI" panose="020B0604030504040204" pitchFamily="50" charset="-128"/>
                <a:ea typeface="Meiryo UI" panose="020B0604030504040204" pitchFamily="50" charset="-128"/>
                <a:cs typeface="Meiryo UI" panose="020B0604030504040204" pitchFamily="50" charset="-128"/>
              </a:rPr>
              <a:t>VL Smith - The American Economic Review, 1982</a:t>
            </a:r>
            <a:r>
              <a:rPr lang="ja-JP" altLang="en-US" dirty="0">
                <a:latin typeface="Meiryo UI" panose="020B0604030504040204" pitchFamily="50" charset="-128"/>
                <a:ea typeface="Meiryo UI" panose="020B0604030504040204" pitchFamily="50" charset="-128"/>
                <a:cs typeface="Meiryo UI" panose="020B0604030504040204" pitchFamily="50" charset="-128"/>
              </a:rPr>
              <a:t>より</a:t>
            </a:r>
          </a:p>
        </p:txBody>
      </p:sp>
      <p:sp>
        <p:nvSpPr>
          <p:cNvPr id="6" name="角丸四角形 8">
            <a:extLst>
              <a:ext uri="{FF2B5EF4-FFF2-40B4-BE49-F238E27FC236}">
                <a16:creationId xmlns:a16="http://schemas.microsoft.com/office/drawing/2014/main" id="{F283EEFF-0E5B-4C03-8207-DADEAED5B65B}"/>
              </a:ext>
            </a:extLst>
          </p:cNvPr>
          <p:cNvSpPr/>
          <p:nvPr/>
        </p:nvSpPr>
        <p:spPr>
          <a:xfrm>
            <a:off x="683568" y="409075"/>
            <a:ext cx="10961036" cy="87129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94303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36933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endPar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11</a:t>
            </a:fld>
            <a:endParaRPr kumimoji="1" lang="ja-JP" altLang="en-US"/>
          </a:p>
        </p:txBody>
      </p:sp>
      <p:pic>
        <p:nvPicPr>
          <p:cNvPr id="4" name="図 3"/>
          <p:cNvPicPr>
            <a:picLocks noChangeAspect="1"/>
          </p:cNvPicPr>
          <p:nvPr/>
        </p:nvPicPr>
        <p:blipFill>
          <a:blip r:embed="rId2"/>
          <a:stretch>
            <a:fillRect/>
          </a:stretch>
        </p:blipFill>
        <p:spPr>
          <a:xfrm>
            <a:off x="998630" y="1929468"/>
            <a:ext cx="10194739" cy="3404231"/>
          </a:xfrm>
          <a:prstGeom prst="rect">
            <a:avLst/>
          </a:prstGeom>
        </p:spPr>
      </p:pic>
      <p:sp>
        <p:nvSpPr>
          <p:cNvPr id="6" name="テキスト ボックス 5"/>
          <p:cNvSpPr txBox="1"/>
          <p:nvPr/>
        </p:nvSpPr>
        <p:spPr>
          <a:xfrm>
            <a:off x="1259355" y="510155"/>
            <a:ext cx="10023870" cy="646331"/>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cs typeface="Meiryo UI" panose="020B0604030504040204" pitchFamily="50" charset="-128"/>
              </a:rPr>
              <a:t>※</a:t>
            </a:r>
            <a:r>
              <a:rPr lang="ja-JP" altLang="en-US" dirty="0">
                <a:latin typeface="Meiryo UI" panose="020B0604030504040204" pitchFamily="50" charset="-128"/>
                <a:ea typeface="Meiryo UI" panose="020B0604030504040204" pitchFamily="50" charset="-128"/>
                <a:cs typeface="Meiryo UI" panose="020B0604030504040204" pitchFamily="50" charset="-128"/>
              </a:rPr>
              <a:t>参考　価値誘発理論による選好の誘導の例　</a:t>
            </a:r>
            <a:r>
              <a:rPr lang="en-US" altLang="ja-JP" dirty="0">
                <a:latin typeface="Meiryo UI" panose="020B0604030504040204" pitchFamily="50" charset="-128"/>
                <a:ea typeface="Meiryo UI" panose="020B0604030504040204" pitchFamily="50" charset="-128"/>
                <a:cs typeface="Meiryo UI" panose="020B0604030504040204" pitchFamily="50" charset="-128"/>
              </a:rPr>
              <a:t>Microeconomic systems as an experimental science</a:t>
            </a:r>
            <a:r>
              <a:rPr lang="ja-JP" altLang="en-US" dirty="0">
                <a:latin typeface="Meiryo UI" panose="020B0604030504040204" pitchFamily="50" charset="-128"/>
                <a:ea typeface="Meiryo UI" panose="020B0604030504040204" pitchFamily="50" charset="-128"/>
                <a:cs typeface="Meiryo UI" panose="020B0604030504040204" pitchFamily="50" charset="-128"/>
              </a:rPr>
              <a:t>　</a:t>
            </a:r>
            <a:r>
              <a:rPr lang="en-US" altLang="ja-JP" dirty="0">
                <a:latin typeface="Meiryo UI" panose="020B0604030504040204" pitchFamily="50" charset="-128"/>
                <a:ea typeface="Meiryo UI" panose="020B0604030504040204" pitchFamily="50" charset="-128"/>
                <a:cs typeface="Meiryo UI" panose="020B0604030504040204" pitchFamily="50" charset="-128"/>
              </a:rPr>
              <a:t>VL Smith - The American Economic Review, 1982</a:t>
            </a:r>
            <a:r>
              <a:rPr lang="ja-JP" altLang="en-US" dirty="0">
                <a:latin typeface="Meiryo UI" panose="020B0604030504040204" pitchFamily="50" charset="-128"/>
                <a:ea typeface="Meiryo UI" panose="020B0604030504040204" pitchFamily="50" charset="-128"/>
                <a:cs typeface="Meiryo UI" panose="020B0604030504040204" pitchFamily="50" charset="-128"/>
              </a:rPr>
              <a:t>より</a:t>
            </a: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09075"/>
            <a:ext cx="10961036" cy="87129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46622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1524467" y="1105305"/>
            <a:ext cx="9274475" cy="5435843"/>
          </a:xfrm>
          <a:prstGeom prst="rect">
            <a:avLst/>
          </a:prstGeom>
        </p:spPr>
      </p:pic>
      <p:sp>
        <p:nvSpPr>
          <p:cNvPr id="5" name="テキスト ボックス 4"/>
          <p:cNvSpPr txBox="1"/>
          <p:nvPr/>
        </p:nvSpPr>
        <p:spPr>
          <a:xfrm>
            <a:off x="1259355" y="510155"/>
            <a:ext cx="10023870" cy="646331"/>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cs typeface="Meiryo UI" panose="020B0604030504040204" pitchFamily="50" charset="-128"/>
              </a:rPr>
              <a:t>※</a:t>
            </a:r>
            <a:r>
              <a:rPr lang="ja-JP" altLang="en-US" dirty="0">
                <a:latin typeface="Meiryo UI" panose="020B0604030504040204" pitchFamily="50" charset="-128"/>
                <a:ea typeface="Meiryo UI" panose="020B0604030504040204" pitchFamily="50" charset="-128"/>
                <a:cs typeface="Meiryo UI" panose="020B0604030504040204" pitchFamily="50" charset="-128"/>
              </a:rPr>
              <a:t>参考　取引記録用紙の例　</a:t>
            </a:r>
            <a:r>
              <a:rPr lang="en-US" altLang="ja-JP" dirty="0">
                <a:latin typeface="Meiryo UI" panose="020B0604030504040204" pitchFamily="50" charset="-128"/>
                <a:ea typeface="Meiryo UI" panose="020B0604030504040204" pitchFamily="50" charset="-128"/>
                <a:cs typeface="Meiryo UI" panose="020B0604030504040204" pitchFamily="50" charset="-128"/>
              </a:rPr>
              <a:t>Microeconomic systems as an experimental science</a:t>
            </a:r>
            <a:r>
              <a:rPr lang="ja-JP" altLang="en-US" dirty="0">
                <a:latin typeface="Meiryo UI" panose="020B0604030504040204" pitchFamily="50" charset="-128"/>
                <a:ea typeface="Meiryo UI" panose="020B0604030504040204" pitchFamily="50" charset="-128"/>
                <a:cs typeface="Meiryo UI" panose="020B0604030504040204" pitchFamily="50" charset="-128"/>
              </a:rPr>
              <a:t>　</a:t>
            </a:r>
            <a:r>
              <a:rPr lang="en-US" altLang="ja-JP" dirty="0">
                <a:latin typeface="Meiryo UI" panose="020B0604030504040204" pitchFamily="50" charset="-128"/>
                <a:ea typeface="Meiryo UI" panose="020B0604030504040204" pitchFamily="50" charset="-128"/>
                <a:cs typeface="Meiryo UI" panose="020B0604030504040204" pitchFamily="50" charset="-128"/>
              </a:rPr>
              <a:t>VL Smith - The American Economic Review, 1982</a:t>
            </a:r>
            <a:r>
              <a:rPr lang="ja-JP" altLang="en-US" dirty="0">
                <a:latin typeface="Meiryo UI" panose="020B0604030504040204" pitchFamily="50" charset="-128"/>
                <a:ea typeface="Meiryo UI" panose="020B0604030504040204" pitchFamily="50" charset="-128"/>
                <a:cs typeface="Meiryo UI" panose="020B0604030504040204" pitchFamily="50" charset="-128"/>
              </a:rPr>
              <a:t>より</a:t>
            </a:r>
          </a:p>
        </p:txBody>
      </p:sp>
      <p:sp>
        <p:nvSpPr>
          <p:cNvPr id="6"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81059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3693319"/>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cs typeface="Meiryo UI" panose="020B0604030504040204" pitchFamily="50" charset="-128"/>
              </a:rPr>
              <a:t>(1)9</a:t>
            </a:r>
            <a:r>
              <a:rPr lang="ja-JP" altLang="en-US" dirty="0">
                <a:latin typeface="Meiryo UI" panose="020B0604030504040204" pitchFamily="50" charset="-128"/>
                <a:ea typeface="Meiryo UI" panose="020B0604030504040204" pitchFamily="50" charset="-128"/>
                <a:cs typeface="Meiryo UI" panose="020B0604030504040204" pitchFamily="50" charset="-128"/>
              </a:rPr>
              <a:t>人組を作る。そのなかでリーダーを決める。リーダーはオークションの主催者であり，実験の記録係である．</a:t>
            </a: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(2)</a:t>
            </a:r>
            <a:r>
              <a:rPr lang="ja-JP" altLang="en-US" dirty="0">
                <a:latin typeface="Meiryo UI" panose="020B0604030504040204" pitchFamily="50" charset="-128"/>
                <a:ea typeface="Meiryo UI" panose="020B0604030504040204" pitchFamily="50" charset="-128"/>
                <a:cs typeface="Meiryo UI" panose="020B0604030504040204" pitchFamily="50" charset="-128"/>
              </a:rPr>
              <a:t>リーダーは、ランダムに各参加者にランダムに被験者番号（１から８）を与える。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(3)LETUS</a:t>
            </a:r>
            <a:r>
              <a:rPr lang="ja-JP" altLang="en-US" dirty="0">
                <a:latin typeface="Meiryo UI" panose="020B0604030504040204" pitchFamily="50" charset="-128"/>
                <a:ea typeface="Meiryo UI" panose="020B0604030504040204" pitchFamily="50" charset="-128"/>
                <a:cs typeface="Meiryo UI" panose="020B0604030504040204" pitchFamily="50" charset="-128"/>
              </a:rPr>
              <a:t>からリーダーは</a:t>
            </a:r>
            <a:r>
              <a:rPr lang="en-US" altLang="ja-JP" u="sng" dirty="0">
                <a:latin typeface="Meiryo UI" panose="020B0604030504040204" pitchFamily="50" charset="-128"/>
                <a:ea typeface="Meiryo UI" panose="020B0604030504040204" pitchFamily="50" charset="-128"/>
                <a:cs typeface="Meiryo UI" panose="020B0604030504040204" pitchFamily="50" charset="-128"/>
              </a:rPr>
              <a:t>Topic2Exp1_Leader.xlsx</a:t>
            </a:r>
            <a:r>
              <a:rPr lang="ja-JP" altLang="en-US" dirty="0">
                <a:latin typeface="Meiryo UI" panose="020B0604030504040204" pitchFamily="50" charset="-128"/>
                <a:ea typeface="Meiryo UI" panose="020B0604030504040204" pitchFamily="50" charset="-128"/>
                <a:cs typeface="Meiryo UI" panose="020B0604030504040204" pitchFamily="50" charset="-128"/>
              </a:rPr>
              <a:t>を、</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   </a:t>
            </a:r>
            <a:r>
              <a:rPr lang="ja-JP" altLang="en-US" dirty="0">
                <a:latin typeface="Meiryo UI" panose="020B0604030504040204" pitchFamily="50" charset="-128"/>
                <a:ea typeface="Meiryo UI" panose="020B0604030504040204" pitchFamily="50" charset="-128"/>
                <a:cs typeface="Meiryo UI" panose="020B0604030504040204" pitchFamily="50" charset="-128"/>
              </a:rPr>
              <a:t>各参加者は被験者番号の</a:t>
            </a:r>
            <a:r>
              <a:rPr lang="en-US" altLang="ja-JP" u="sng" dirty="0">
                <a:latin typeface="Meiryo UI" panose="020B0604030504040204" pitchFamily="50" charset="-128"/>
                <a:ea typeface="Meiryo UI" panose="020B0604030504040204" pitchFamily="50" charset="-128"/>
                <a:cs typeface="Meiryo UI" panose="020B0604030504040204" pitchFamily="50" charset="-128"/>
              </a:rPr>
              <a:t>Topic2Exp1SubjectID5.xlsx</a:t>
            </a:r>
            <a:r>
              <a:rPr lang="ja-JP" altLang="en-US" dirty="0">
                <a:latin typeface="Meiryo UI" panose="020B0604030504040204" pitchFamily="50" charset="-128"/>
                <a:ea typeface="Meiryo UI" panose="020B0604030504040204" pitchFamily="50" charset="-128"/>
                <a:cs typeface="Meiryo UI" panose="020B0604030504040204" pitchFamily="50" charset="-128"/>
              </a:rPr>
              <a:t>をダウンロードする。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これらのファイルには、被験者が</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か</a:t>
            </a:r>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か、それぞれの費用条件や評価値が記載されている。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これらの条件は秘匿されなくてはいけない。</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また、これらのファイルの書き方については以下で説明する。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(4)</a:t>
            </a:r>
            <a:r>
              <a:rPr lang="ja-JP" altLang="en-US" dirty="0">
                <a:latin typeface="Meiryo UI" panose="020B0604030504040204" pitchFamily="50" charset="-128"/>
                <a:ea typeface="Meiryo UI" panose="020B0604030504040204" pitchFamily="50" charset="-128"/>
                <a:cs typeface="Meiryo UI" panose="020B0604030504040204" pitchFamily="50" charset="-128"/>
              </a:rPr>
              <a:t>被験者は</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Seller4</a:t>
            </a:r>
            <a:r>
              <a:rPr lang="ja-JP" altLang="en-US" dirty="0">
                <a:latin typeface="Meiryo UI" panose="020B0604030504040204" pitchFamily="50" charset="-128"/>
                <a:ea typeface="Meiryo UI" panose="020B0604030504040204" pitchFamily="50" charset="-128"/>
                <a:cs typeface="Meiryo UI" panose="020B0604030504040204" pitchFamily="50" charset="-128"/>
              </a:rPr>
              <a:t>人と</a:t>
            </a:r>
            <a:r>
              <a:rPr lang="en-US" altLang="ja-JP" dirty="0">
                <a:latin typeface="Meiryo UI" panose="020B0604030504040204" pitchFamily="50" charset="-128"/>
                <a:ea typeface="Meiryo UI" panose="020B0604030504040204" pitchFamily="50" charset="-128"/>
                <a:cs typeface="Meiryo UI" panose="020B0604030504040204" pitchFamily="50" charset="-128"/>
              </a:rPr>
              <a:t>Buyer4</a:t>
            </a:r>
            <a:r>
              <a:rPr lang="ja-JP" altLang="en-US" dirty="0">
                <a:latin typeface="Meiryo UI" panose="020B0604030504040204" pitchFamily="50" charset="-128"/>
                <a:ea typeface="Meiryo UI" panose="020B0604030504040204" pitchFamily="50" charset="-128"/>
                <a:cs typeface="Meiryo UI" panose="020B0604030504040204" pitchFamily="50" charset="-128"/>
              </a:rPr>
              <a:t>人に分けられている。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各売り手の販売可能量（初期保有量）と各買い手の購入可能量はそれぞれ３</a:t>
            </a:r>
            <a:r>
              <a:rPr lang="en-US" altLang="ja-JP" dirty="0">
                <a:latin typeface="Meiryo UI" panose="020B0604030504040204" pitchFamily="50" charset="-128"/>
                <a:ea typeface="Meiryo UI" panose="020B0604030504040204" pitchFamily="50" charset="-128"/>
                <a:cs typeface="Meiryo UI" panose="020B0604030504040204" pitchFamily="50" charset="-128"/>
              </a:rPr>
              <a:t>Units</a:t>
            </a:r>
            <a:r>
              <a:rPr lang="ja-JP" altLang="en-US" dirty="0">
                <a:latin typeface="Meiryo UI" panose="020B0604030504040204" pitchFamily="50" charset="-128"/>
                <a:ea typeface="Meiryo UI" panose="020B0604030504040204" pitchFamily="50" charset="-128"/>
                <a:cs typeface="Meiryo UI" panose="020B0604030504040204" pitchFamily="50" charset="-128"/>
              </a:rPr>
              <a:t>である。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利得（得点）の条件は上記のダブルオークションのところで説明した通り。</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13</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実験１の手順</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p14="http://schemas.microsoft.com/office/powerpoint/2010/main">
        <mc:Choice Requires="p14">
          <p:contentPart p14:bwMode="auto" r:id="rId2">
            <p14:nvContentPartPr>
              <p14:cNvPr id="4" name="インク 3"/>
              <p14:cNvContentPartPr/>
              <p14:nvPr/>
            </p14:nvContentPartPr>
            <p14:xfrm>
              <a:off x="3645251" y="1806447"/>
              <a:ext cx="28440" cy="12960"/>
            </p14:xfrm>
          </p:contentPart>
        </mc:Choice>
        <mc:Fallback xmlns="">
          <p:pic>
            <p:nvPicPr>
              <p:cNvPr id="4" name="インク 3"/>
              <p:cNvPicPr/>
              <p:nvPr/>
            </p:nvPicPr>
            <p:blipFill>
              <a:blip r:embed="rId3"/>
              <a:stretch>
                <a:fillRect/>
              </a:stretch>
            </p:blipFill>
            <p:spPr>
              <a:xfrm>
                <a:off x="3628691" y="1789887"/>
                <a:ext cx="601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インク 9"/>
              <p14:cNvContentPartPr/>
              <p14:nvPr/>
            </p14:nvContentPartPr>
            <p14:xfrm>
              <a:off x="5799491" y="3239967"/>
              <a:ext cx="5040" cy="5760"/>
            </p14:xfrm>
          </p:contentPart>
        </mc:Choice>
        <mc:Fallback xmlns="">
          <p:pic>
            <p:nvPicPr>
              <p:cNvPr id="10" name="インク 9"/>
              <p:cNvPicPr/>
              <p:nvPr/>
            </p:nvPicPr>
            <p:blipFill>
              <a:blip r:embed="rId5"/>
              <a:stretch>
                <a:fillRect/>
              </a:stretch>
            </p:blipFill>
            <p:spPr>
              <a:xfrm>
                <a:off x="5786171" y="3226647"/>
                <a:ext cx="30960" cy="31680"/>
              </a:xfrm>
              <a:prstGeom prst="rect">
                <a:avLst/>
              </a:prstGeom>
            </p:spPr>
          </p:pic>
        </mc:Fallback>
      </mc:AlternateContent>
    </p:spTree>
    <p:extLst>
      <p:ext uri="{BB962C8B-B14F-4D97-AF65-F5344CB8AC3E}">
        <p14:creationId xmlns:p14="http://schemas.microsoft.com/office/powerpoint/2010/main" val="776750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3970318"/>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cs typeface="Meiryo UI" panose="020B0604030504040204" pitchFamily="50" charset="-128"/>
              </a:rPr>
              <a:t>(5)</a:t>
            </a:r>
            <a:r>
              <a:rPr lang="ja-JP" altLang="en-US" dirty="0">
                <a:latin typeface="Meiryo UI" panose="020B0604030504040204" pitchFamily="50" charset="-128"/>
                <a:ea typeface="Meiryo UI" panose="020B0604030504040204" pitchFamily="50" charset="-128"/>
                <a:cs typeface="Meiryo UI" panose="020B0604030504040204" pitchFamily="50" charset="-128"/>
              </a:rPr>
              <a:t>取引は口頭で行う。</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リーダーは各</a:t>
            </a:r>
            <a:r>
              <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unit</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の取引開始時にランダムに被験者を指定する</a:t>
            </a:r>
            <a:r>
              <a:rPr lang="ja-JP" altLang="en-US" dirty="0">
                <a:latin typeface="Meiryo UI" panose="020B0604030504040204" pitchFamily="50" charset="-128"/>
                <a:ea typeface="Meiryo UI" panose="020B0604030504040204" pitchFamily="50" charset="-128"/>
                <a:cs typeface="Meiryo UI" panose="020B0604030504040204" pitchFamily="50" charset="-128"/>
              </a:rPr>
              <a:t>。彼が</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なら</a:t>
            </a:r>
            <a:r>
              <a:rPr lang="en-US" altLang="ja-JP" dirty="0">
                <a:latin typeface="Meiryo UI" panose="020B0604030504040204" pitchFamily="50" charset="-128"/>
                <a:ea typeface="Meiryo UI" panose="020B0604030504040204" pitchFamily="50" charset="-128"/>
                <a:cs typeface="Meiryo UI" panose="020B0604030504040204" pitchFamily="50" charset="-128"/>
              </a:rPr>
              <a:t>Offer</a:t>
            </a:r>
            <a:r>
              <a:rPr lang="ja-JP" altLang="en-US" dirty="0">
                <a:latin typeface="Meiryo UI" panose="020B0604030504040204" pitchFamily="50" charset="-128"/>
                <a:ea typeface="Meiryo UI" panose="020B0604030504040204" pitchFamily="50" charset="-128"/>
                <a:cs typeface="Meiryo UI" panose="020B0604030504040204" pitchFamily="50" charset="-128"/>
              </a:rPr>
              <a:t>を、</a:t>
            </a:r>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なら</a:t>
            </a:r>
            <a:r>
              <a:rPr lang="en-US" altLang="ja-JP" dirty="0">
                <a:latin typeface="Meiryo UI" panose="020B0604030504040204" pitchFamily="50" charset="-128"/>
                <a:ea typeface="Meiryo UI" panose="020B0604030504040204" pitchFamily="50" charset="-128"/>
                <a:cs typeface="Meiryo UI" panose="020B0604030504040204" pitchFamily="50" charset="-128"/>
              </a:rPr>
              <a:t>Bid</a:t>
            </a:r>
            <a:r>
              <a:rPr lang="ja-JP" altLang="en-US" dirty="0">
                <a:latin typeface="Meiryo UI" panose="020B0604030504040204" pitchFamily="50" charset="-128"/>
                <a:ea typeface="Meiryo UI" panose="020B0604030504040204" pitchFamily="50" charset="-128"/>
                <a:cs typeface="Meiryo UI" panose="020B0604030504040204" pitchFamily="50" charset="-128"/>
              </a:rPr>
              <a:t>を行う。</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リーダーは取引が行われるたびに，取引価格を記録する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これまでの取引価格はすべての被験者が見られるようにする（紙に書く）．</a:t>
            </a: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(6)</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各</a:t>
            </a:r>
            <a:r>
              <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Unit</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の取引時間は</a:t>
            </a:r>
            <a:r>
              <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30</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秒とする．この時間内に取引が生じない場合は次の</a:t>
            </a:r>
            <a:r>
              <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Unit</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に移る．</a:t>
            </a:r>
            <a:endPar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時間の節約のために</a:t>
            </a:r>
            <a:r>
              <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2Units</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続けて取引が生じない場合は次の</a:t>
            </a:r>
            <a:r>
              <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に移動する．</a:t>
            </a:r>
            <a:endParaRPr lang="en-US" altLang="ja-JP"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　　全ての財の取引が終了するか、期限が来れば、</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を終える。</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の期限は</a:t>
            </a:r>
            <a:r>
              <a:rPr lang="en-US" altLang="ja-JP" dirty="0">
                <a:latin typeface="Meiryo UI" panose="020B0604030504040204" pitchFamily="50" charset="-128"/>
                <a:ea typeface="Meiryo UI" panose="020B0604030504040204" pitchFamily="50" charset="-128"/>
                <a:cs typeface="Meiryo UI" panose="020B0604030504040204" pitchFamily="50" charset="-128"/>
              </a:rPr>
              <a:t>5</a:t>
            </a:r>
            <a:r>
              <a:rPr lang="ja-JP" altLang="en-US" dirty="0">
                <a:latin typeface="Meiryo UI" panose="020B0604030504040204" pitchFamily="50" charset="-128"/>
                <a:ea typeface="Meiryo UI" panose="020B0604030504040204" pitchFamily="50" charset="-128"/>
                <a:cs typeface="Meiryo UI" panose="020B0604030504040204" pitchFamily="50" charset="-128"/>
              </a:rPr>
              <a:t>分とする。</a:t>
            </a: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(7)1</a:t>
            </a:r>
            <a:r>
              <a:rPr lang="ja-JP" altLang="en-US" dirty="0">
                <a:latin typeface="Meiryo UI" panose="020B0604030504040204" pitchFamily="50" charset="-128"/>
                <a:ea typeface="Meiryo UI" panose="020B0604030504040204" pitchFamily="50" charset="-128"/>
                <a:cs typeface="Meiryo UI" panose="020B0604030504040204" pitchFamily="50" charset="-128"/>
              </a:rPr>
              <a:t>分ほど休んで次の</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へ移動．６</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行う．ただしここで需要と供給の条件は変化させない．</a:t>
            </a: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dirty="0">
                <a:latin typeface="Meiryo UI" panose="020B0604030504040204" pitchFamily="50" charset="-128"/>
                <a:ea typeface="Meiryo UI" panose="020B0604030504040204" pitchFamily="50" charset="-128"/>
                <a:cs typeface="Meiryo UI" panose="020B0604030504040204" pitchFamily="50" charset="-128"/>
              </a:rPr>
              <a:t>(8)</a:t>
            </a:r>
            <a:r>
              <a:rPr lang="ja-JP" altLang="en-US" dirty="0">
                <a:latin typeface="Meiryo UI" panose="020B0604030504040204" pitchFamily="50" charset="-128"/>
                <a:ea typeface="Meiryo UI" panose="020B0604030504040204" pitchFamily="50" charset="-128"/>
                <a:cs typeface="Meiryo UI" panose="020B0604030504040204" pitchFamily="50" charset="-128"/>
              </a:rPr>
              <a:t>全ての</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が終わったら，リーダーは価格変化と効率性を集計して提出する．被験者は取引記録を提出する。</a:t>
            </a: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14</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実験１の手順</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22798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10961037" cy="4801314"/>
          </a:xfrm>
          <a:prstGeom prst="rect">
            <a:avLst/>
          </a:prstGeom>
          <a:noFill/>
        </p:spPr>
        <p:txBody>
          <a:bodyPr wrap="square" rtlCol="0">
            <a:spAutoFit/>
          </a:bodyPr>
          <a:lstStyle/>
          <a:p>
            <a:r>
              <a:rPr lang="ja-JP" altLang="en-US" dirty="0">
                <a:latin typeface="Meiryo UI" panose="020B0604030504040204" pitchFamily="50" charset="-128"/>
                <a:ea typeface="Meiryo UI" panose="020B0604030504040204" pitchFamily="50" charset="-128"/>
                <a:cs typeface="Meiryo UI" panose="020B0604030504040204" pitchFamily="50" charset="-128"/>
              </a:rPr>
              <a:t>取引の仕方と取引の決定は以下のようになる。取引数は</a:t>
            </a:r>
            <a:r>
              <a:rPr lang="en-US" altLang="ja-JP" dirty="0">
                <a:latin typeface="Meiryo UI" panose="020B0604030504040204" pitchFamily="50" charset="-128"/>
                <a:ea typeface="Meiryo UI" panose="020B0604030504040204" pitchFamily="50" charset="-128"/>
                <a:cs typeface="Meiryo UI" panose="020B0604030504040204" pitchFamily="50" charset="-128"/>
              </a:rPr>
              <a:t>1unit</a:t>
            </a:r>
            <a:r>
              <a:rPr lang="ja-JP" altLang="en-US" dirty="0">
                <a:latin typeface="Meiryo UI" panose="020B0604030504040204" pitchFamily="50" charset="-128"/>
                <a:ea typeface="Meiryo UI" panose="020B0604030504040204" pitchFamily="50" charset="-128"/>
                <a:cs typeface="Meiryo UI" panose="020B0604030504040204" pitchFamily="50" charset="-128"/>
              </a:rPr>
              <a:t>ずつ。</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まず、初めに指名された人が売り手</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の場合。</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いくらで売りたいか表明する</a:t>
            </a:r>
            <a:r>
              <a:rPr lang="en-US" altLang="ja-JP" dirty="0">
                <a:latin typeface="Meiryo UI" panose="020B0604030504040204" pitchFamily="50" charset="-128"/>
                <a:ea typeface="Meiryo UI" panose="020B0604030504040204" pitchFamily="50" charset="-128"/>
                <a:cs typeface="Meiryo UI" panose="020B0604030504040204" pitchFamily="50" charset="-128"/>
              </a:rPr>
              <a:t>(offer/ask)</a:t>
            </a:r>
            <a:r>
              <a:rPr lang="ja-JP" altLang="en-US" dirty="0">
                <a:latin typeface="Meiryo UI" panose="020B0604030504040204" pitchFamily="50" charset="-128"/>
                <a:ea typeface="Meiryo UI" panose="020B0604030504040204" pitchFamily="50" charset="-128"/>
                <a:cs typeface="Meiryo UI" panose="020B0604030504040204" pitchFamily="50" charset="-128"/>
              </a:rPr>
              <a:t>　　例「</a:t>
            </a:r>
            <a:r>
              <a:rPr lang="en-US" altLang="ja-JP" dirty="0">
                <a:latin typeface="Meiryo UI" panose="020B0604030504040204" pitchFamily="50" charset="-128"/>
                <a:ea typeface="Meiryo UI" panose="020B0604030504040204" pitchFamily="50" charset="-128"/>
                <a:cs typeface="Meiryo UI" panose="020B0604030504040204" pitchFamily="50" charset="-128"/>
              </a:rPr>
              <a:t>100</a:t>
            </a:r>
            <a:r>
              <a:rPr lang="ja-JP" altLang="en-US" dirty="0">
                <a:latin typeface="Meiryo UI" panose="020B0604030504040204" pitchFamily="50" charset="-128"/>
                <a:ea typeface="Meiryo UI" panose="020B0604030504040204" pitchFamily="50" charset="-128"/>
                <a:cs typeface="Meiryo UI" panose="020B0604030504040204" pitchFamily="50" charset="-128"/>
              </a:rPr>
              <a:t>円で売ります」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次は誰が</a:t>
            </a:r>
            <a:r>
              <a:rPr lang="en-US" altLang="ja-JP" dirty="0">
                <a:latin typeface="Meiryo UI" panose="020B0604030504040204" pitchFamily="50" charset="-128"/>
                <a:ea typeface="Meiryo UI" panose="020B0604030504040204" pitchFamily="50" charset="-128"/>
                <a:cs typeface="Meiryo UI" panose="020B0604030504040204" pitchFamily="50" charset="-128"/>
              </a:rPr>
              <a:t>offer</a:t>
            </a:r>
            <a:r>
              <a:rPr lang="ja-JP" altLang="en-US" dirty="0">
                <a:latin typeface="Meiryo UI" panose="020B0604030504040204" pitchFamily="50" charset="-128"/>
                <a:ea typeface="Meiryo UI" panose="020B0604030504040204" pitchFamily="50" charset="-128"/>
                <a:cs typeface="Meiryo UI" panose="020B0604030504040204" pitchFamily="50" charset="-128"/>
              </a:rPr>
              <a:t>や</a:t>
            </a:r>
            <a:r>
              <a:rPr lang="en-US" altLang="ja-JP" dirty="0">
                <a:latin typeface="Meiryo UI" panose="020B0604030504040204" pitchFamily="50" charset="-128"/>
                <a:ea typeface="Meiryo UI" panose="020B0604030504040204" pitchFamily="50" charset="-128"/>
                <a:cs typeface="Meiryo UI" panose="020B0604030504040204" pitchFamily="50" charset="-128"/>
              </a:rPr>
              <a:t>bid</a:t>
            </a:r>
            <a:r>
              <a:rPr lang="ja-JP" altLang="en-US" dirty="0">
                <a:latin typeface="Meiryo UI" panose="020B0604030504040204" pitchFamily="50" charset="-128"/>
                <a:ea typeface="Meiryo UI" panose="020B0604030504040204" pitchFamily="50" charset="-128"/>
                <a:cs typeface="Meiryo UI" panose="020B0604030504040204" pitchFamily="50" charset="-128"/>
              </a:rPr>
              <a:t>をしてもいいですが、</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もし自分が売り手</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ならこれまでの</a:t>
            </a:r>
            <a:r>
              <a:rPr lang="en-US" altLang="ja-JP" dirty="0">
                <a:latin typeface="Meiryo UI" panose="020B0604030504040204" pitchFamily="50" charset="-128"/>
                <a:ea typeface="Meiryo UI" panose="020B0604030504040204" pitchFamily="50" charset="-128"/>
                <a:cs typeface="Meiryo UI" panose="020B0604030504040204" pitchFamily="50" charset="-128"/>
              </a:rPr>
              <a:t>offer</a:t>
            </a:r>
            <a:r>
              <a:rPr lang="ja-JP" altLang="en-US" dirty="0">
                <a:latin typeface="Meiryo UI" panose="020B0604030504040204" pitchFamily="50" charset="-128"/>
                <a:ea typeface="Meiryo UI" panose="020B0604030504040204" pitchFamily="50" charset="-128"/>
                <a:cs typeface="Meiryo UI" panose="020B0604030504040204" pitchFamily="50" charset="-128"/>
              </a:rPr>
              <a:t>額よりも低い金額を</a:t>
            </a:r>
            <a:r>
              <a:rPr lang="en-US" altLang="ja-JP" dirty="0">
                <a:latin typeface="Meiryo UI" panose="020B0604030504040204" pitchFamily="50" charset="-128"/>
                <a:ea typeface="Meiryo UI" panose="020B0604030504040204" pitchFamily="50" charset="-128"/>
                <a:cs typeface="Meiryo UI" panose="020B0604030504040204" pitchFamily="50" charset="-128"/>
              </a:rPr>
              <a:t>offer</a:t>
            </a:r>
            <a:r>
              <a:rPr lang="ja-JP" altLang="en-US" dirty="0">
                <a:latin typeface="Meiryo UI" panose="020B0604030504040204" pitchFamily="50" charset="-128"/>
                <a:ea typeface="Meiryo UI" panose="020B0604030504040204" pitchFamily="50" charset="-128"/>
                <a:cs typeface="Meiryo UI" panose="020B0604030504040204" pitchFamily="50" charset="-128"/>
              </a:rPr>
              <a:t>しないといけない。例「</a:t>
            </a:r>
            <a:r>
              <a:rPr lang="en-US" altLang="ja-JP" dirty="0">
                <a:latin typeface="Meiryo UI" panose="020B0604030504040204" pitchFamily="50" charset="-128"/>
                <a:ea typeface="Meiryo UI" panose="020B0604030504040204" pitchFamily="50" charset="-128"/>
                <a:cs typeface="Meiryo UI" panose="020B0604030504040204" pitchFamily="50" charset="-128"/>
              </a:rPr>
              <a:t>90</a:t>
            </a:r>
            <a:r>
              <a:rPr lang="ja-JP" altLang="en-US" dirty="0">
                <a:latin typeface="Meiryo UI" panose="020B0604030504040204" pitchFamily="50" charset="-128"/>
                <a:ea typeface="Meiryo UI" panose="020B0604030504040204" pitchFamily="50" charset="-128"/>
                <a:cs typeface="Meiryo UI" panose="020B0604030504040204" pitchFamily="50" charset="-128"/>
              </a:rPr>
              <a:t>円で売ります」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もし自分が買い手</a:t>
            </a:r>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で</a:t>
            </a:r>
            <a:r>
              <a:rPr lang="en-US" altLang="ja-JP" dirty="0">
                <a:latin typeface="Meiryo UI" panose="020B0604030504040204" pitchFamily="50" charset="-128"/>
                <a:ea typeface="Meiryo UI" panose="020B0604030504040204" pitchFamily="50" charset="-128"/>
                <a:cs typeface="Meiryo UI" panose="020B0604030504040204" pitchFamily="50" charset="-128"/>
              </a:rPr>
              <a:t>offer</a:t>
            </a:r>
            <a:r>
              <a:rPr lang="ja-JP" altLang="en-US" dirty="0">
                <a:latin typeface="Meiryo UI" panose="020B0604030504040204" pitchFamily="50" charset="-128"/>
                <a:ea typeface="Meiryo UI" panose="020B0604030504040204" pitchFamily="50" charset="-128"/>
                <a:cs typeface="Meiryo UI" panose="020B0604030504040204" pitchFamily="50" charset="-128"/>
              </a:rPr>
              <a:t>額で買ってもいいならその額で</a:t>
            </a:r>
            <a:r>
              <a:rPr lang="en-US" altLang="ja-JP" dirty="0">
                <a:latin typeface="Meiryo UI" panose="020B0604030504040204" pitchFamily="50" charset="-128"/>
                <a:ea typeface="Meiryo UI" panose="020B0604030504040204" pitchFamily="50" charset="-128"/>
                <a:cs typeface="Meiryo UI" panose="020B0604030504040204" pitchFamily="50" charset="-128"/>
              </a:rPr>
              <a:t>buy</a:t>
            </a:r>
            <a:r>
              <a:rPr lang="ja-JP" altLang="en-US" dirty="0">
                <a:latin typeface="Meiryo UI" panose="020B0604030504040204" pitchFamily="50" charset="-128"/>
                <a:ea typeface="Meiryo UI" panose="020B0604030504040204" pitchFamily="50" charset="-128"/>
                <a:cs typeface="Meiryo UI" panose="020B0604030504040204" pitchFamily="50" charset="-128"/>
              </a:rPr>
              <a:t>します。例「その金額（</a:t>
            </a:r>
            <a:r>
              <a:rPr lang="en-US" altLang="ja-JP" dirty="0">
                <a:latin typeface="Meiryo UI" panose="020B0604030504040204" pitchFamily="50" charset="-128"/>
                <a:ea typeface="Meiryo UI" panose="020B0604030504040204" pitchFamily="50" charset="-128"/>
                <a:cs typeface="Meiryo UI" panose="020B0604030504040204" pitchFamily="50" charset="-128"/>
              </a:rPr>
              <a:t>100</a:t>
            </a:r>
            <a:r>
              <a:rPr lang="ja-JP" altLang="en-US" dirty="0">
                <a:latin typeface="Meiryo UI" panose="020B0604030504040204" pitchFamily="50" charset="-128"/>
                <a:ea typeface="Meiryo UI" panose="020B0604030504040204" pitchFamily="50" charset="-128"/>
                <a:cs typeface="Meiryo UI" panose="020B0604030504040204" pitchFamily="50" charset="-128"/>
              </a:rPr>
              <a:t>円）で買います」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買い手が現れた時点で当該</a:t>
            </a:r>
            <a:r>
              <a:rPr lang="en-US" altLang="ja-JP" dirty="0">
                <a:latin typeface="Meiryo UI" panose="020B0604030504040204" pitchFamily="50" charset="-128"/>
                <a:ea typeface="Meiryo UI" panose="020B0604030504040204" pitchFamily="50" charset="-128"/>
                <a:cs typeface="Meiryo UI" panose="020B0604030504040204" pitchFamily="50" charset="-128"/>
              </a:rPr>
              <a:t>unit</a:t>
            </a:r>
            <a:r>
              <a:rPr lang="ja-JP" altLang="en-US" dirty="0">
                <a:latin typeface="Meiryo UI" panose="020B0604030504040204" pitchFamily="50" charset="-128"/>
                <a:ea typeface="Meiryo UI" panose="020B0604030504040204" pitchFamily="50" charset="-128"/>
                <a:cs typeface="Meiryo UI" panose="020B0604030504040204" pitchFamily="50" charset="-128"/>
              </a:rPr>
              <a:t>の取引は成立です。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初めに指名された人が買い手</a:t>
            </a:r>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の場合。</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いくらで買いたいか表明する</a:t>
            </a:r>
            <a:r>
              <a:rPr lang="en-US" altLang="ja-JP" dirty="0">
                <a:latin typeface="Meiryo UI" panose="020B0604030504040204" pitchFamily="50" charset="-128"/>
                <a:ea typeface="Meiryo UI" panose="020B0604030504040204" pitchFamily="50" charset="-128"/>
                <a:cs typeface="Meiryo UI" panose="020B0604030504040204" pitchFamily="50" charset="-128"/>
              </a:rPr>
              <a:t>(bid)</a:t>
            </a:r>
            <a:r>
              <a:rPr lang="ja-JP" altLang="en-US" dirty="0">
                <a:latin typeface="Meiryo UI" panose="020B0604030504040204" pitchFamily="50" charset="-128"/>
                <a:ea typeface="Meiryo UI" panose="020B0604030504040204" pitchFamily="50" charset="-128"/>
                <a:cs typeface="Meiryo UI" panose="020B0604030504040204" pitchFamily="50" charset="-128"/>
              </a:rPr>
              <a:t>　　例「</a:t>
            </a:r>
            <a:r>
              <a:rPr lang="en-US" altLang="ja-JP" dirty="0">
                <a:latin typeface="Meiryo UI" panose="020B0604030504040204" pitchFamily="50" charset="-128"/>
                <a:ea typeface="Meiryo UI" panose="020B0604030504040204" pitchFamily="50" charset="-128"/>
                <a:cs typeface="Meiryo UI" panose="020B0604030504040204" pitchFamily="50" charset="-128"/>
              </a:rPr>
              <a:t>100</a:t>
            </a:r>
            <a:r>
              <a:rPr lang="ja-JP" altLang="en-US" dirty="0">
                <a:latin typeface="Meiryo UI" panose="020B0604030504040204" pitchFamily="50" charset="-128"/>
                <a:ea typeface="Meiryo UI" panose="020B0604030504040204" pitchFamily="50" charset="-128"/>
                <a:cs typeface="Meiryo UI" panose="020B0604030504040204" pitchFamily="50" charset="-128"/>
              </a:rPr>
              <a:t>円で買います」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次は誰が</a:t>
            </a:r>
            <a:r>
              <a:rPr lang="en-US" altLang="ja-JP" dirty="0">
                <a:latin typeface="Meiryo UI" panose="020B0604030504040204" pitchFamily="50" charset="-128"/>
                <a:ea typeface="Meiryo UI" panose="020B0604030504040204" pitchFamily="50" charset="-128"/>
                <a:cs typeface="Meiryo UI" panose="020B0604030504040204" pitchFamily="50" charset="-128"/>
              </a:rPr>
              <a:t>offer</a:t>
            </a:r>
            <a:r>
              <a:rPr lang="ja-JP" altLang="en-US" dirty="0">
                <a:latin typeface="Meiryo UI" panose="020B0604030504040204" pitchFamily="50" charset="-128"/>
                <a:ea typeface="Meiryo UI" panose="020B0604030504040204" pitchFamily="50" charset="-128"/>
                <a:cs typeface="Meiryo UI" panose="020B0604030504040204" pitchFamily="50" charset="-128"/>
              </a:rPr>
              <a:t>や</a:t>
            </a:r>
            <a:r>
              <a:rPr lang="en-US" altLang="ja-JP" dirty="0">
                <a:latin typeface="Meiryo UI" panose="020B0604030504040204" pitchFamily="50" charset="-128"/>
                <a:ea typeface="Meiryo UI" panose="020B0604030504040204" pitchFamily="50" charset="-128"/>
                <a:cs typeface="Meiryo UI" panose="020B0604030504040204" pitchFamily="50" charset="-128"/>
              </a:rPr>
              <a:t>bid</a:t>
            </a:r>
            <a:r>
              <a:rPr lang="ja-JP" altLang="en-US" dirty="0">
                <a:latin typeface="Meiryo UI" panose="020B0604030504040204" pitchFamily="50" charset="-128"/>
                <a:ea typeface="Meiryo UI" panose="020B0604030504040204" pitchFamily="50" charset="-128"/>
                <a:cs typeface="Meiryo UI" panose="020B0604030504040204" pitchFamily="50" charset="-128"/>
              </a:rPr>
              <a:t>をしてもいいですが、</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もし自分が売り手</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で</a:t>
            </a:r>
            <a:r>
              <a:rPr lang="en-US" altLang="ja-JP" dirty="0">
                <a:latin typeface="Meiryo UI" panose="020B0604030504040204" pitchFamily="50" charset="-128"/>
                <a:ea typeface="Meiryo UI" panose="020B0604030504040204" pitchFamily="50" charset="-128"/>
                <a:cs typeface="Meiryo UI" panose="020B0604030504040204" pitchFamily="50" charset="-128"/>
              </a:rPr>
              <a:t>bid</a:t>
            </a:r>
            <a:r>
              <a:rPr lang="ja-JP" altLang="en-US" dirty="0">
                <a:latin typeface="Meiryo UI" panose="020B0604030504040204" pitchFamily="50" charset="-128"/>
                <a:ea typeface="Meiryo UI" panose="020B0604030504040204" pitchFamily="50" charset="-128"/>
                <a:cs typeface="Meiryo UI" panose="020B0604030504040204" pitchFamily="50" charset="-128"/>
              </a:rPr>
              <a:t>金額で売ってもいいならその額で</a:t>
            </a:r>
            <a:r>
              <a:rPr lang="en-US" altLang="ja-JP" dirty="0">
                <a:latin typeface="Meiryo UI" panose="020B0604030504040204" pitchFamily="50" charset="-128"/>
                <a:ea typeface="Meiryo UI" panose="020B0604030504040204" pitchFamily="50" charset="-128"/>
                <a:cs typeface="Meiryo UI" panose="020B0604030504040204" pitchFamily="50" charset="-128"/>
              </a:rPr>
              <a:t>sell</a:t>
            </a:r>
            <a:r>
              <a:rPr lang="ja-JP" altLang="en-US" dirty="0">
                <a:latin typeface="Meiryo UI" panose="020B0604030504040204" pitchFamily="50" charset="-128"/>
                <a:ea typeface="Meiryo UI" panose="020B0604030504040204" pitchFamily="50" charset="-128"/>
                <a:cs typeface="Meiryo UI" panose="020B0604030504040204" pitchFamily="50" charset="-128"/>
              </a:rPr>
              <a:t>します。例「その金額（</a:t>
            </a:r>
            <a:r>
              <a:rPr lang="en-US" altLang="ja-JP" dirty="0">
                <a:latin typeface="Meiryo UI" panose="020B0604030504040204" pitchFamily="50" charset="-128"/>
                <a:ea typeface="Meiryo UI" panose="020B0604030504040204" pitchFamily="50" charset="-128"/>
                <a:cs typeface="Meiryo UI" panose="020B0604030504040204" pitchFamily="50" charset="-128"/>
              </a:rPr>
              <a:t>100</a:t>
            </a:r>
            <a:r>
              <a:rPr lang="ja-JP" altLang="en-US" dirty="0">
                <a:latin typeface="Meiryo UI" panose="020B0604030504040204" pitchFamily="50" charset="-128"/>
                <a:ea typeface="Meiryo UI" panose="020B0604030504040204" pitchFamily="50" charset="-128"/>
                <a:cs typeface="Meiryo UI" panose="020B0604030504040204" pitchFamily="50" charset="-128"/>
              </a:rPr>
              <a:t>円）で売ります」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もし自分が買い手</a:t>
            </a:r>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ならこれまでの</a:t>
            </a:r>
            <a:r>
              <a:rPr lang="en-US" altLang="ja-JP" dirty="0">
                <a:latin typeface="Meiryo UI" panose="020B0604030504040204" pitchFamily="50" charset="-128"/>
                <a:ea typeface="Meiryo UI" panose="020B0604030504040204" pitchFamily="50" charset="-128"/>
                <a:cs typeface="Meiryo UI" panose="020B0604030504040204" pitchFamily="50" charset="-128"/>
              </a:rPr>
              <a:t>bid</a:t>
            </a:r>
            <a:r>
              <a:rPr lang="ja-JP" altLang="en-US" dirty="0">
                <a:latin typeface="Meiryo UI" panose="020B0604030504040204" pitchFamily="50" charset="-128"/>
                <a:ea typeface="Meiryo UI" panose="020B0604030504040204" pitchFamily="50" charset="-128"/>
                <a:cs typeface="Meiryo UI" panose="020B0604030504040204" pitchFamily="50" charset="-128"/>
              </a:rPr>
              <a:t>額よりも高い金額を</a:t>
            </a:r>
            <a:r>
              <a:rPr lang="en-US" altLang="ja-JP" dirty="0">
                <a:latin typeface="Meiryo UI" panose="020B0604030504040204" pitchFamily="50" charset="-128"/>
                <a:ea typeface="Meiryo UI" panose="020B0604030504040204" pitchFamily="50" charset="-128"/>
                <a:cs typeface="Meiryo UI" panose="020B0604030504040204" pitchFamily="50" charset="-128"/>
              </a:rPr>
              <a:t>bid</a:t>
            </a:r>
            <a:r>
              <a:rPr lang="ja-JP" altLang="en-US" dirty="0">
                <a:latin typeface="Meiryo UI" panose="020B0604030504040204" pitchFamily="50" charset="-128"/>
                <a:ea typeface="Meiryo UI" panose="020B0604030504040204" pitchFamily="50" charset="-128"/>
                <a:cs typeface="Meiryo UI" panose="020B0604030504040204" pitchFamily="50" charset="-128"/>
              </a:rPr>
              <a:t>しないといけない。例「</a:t>
            </a:r>
            <a:r>
              <a:rPr lang="en-US" altLang="ja-JP" dirty="0">
                <a:latin typeface="Meiryo UI" panose="020B0604030504040204" pitchFamily="50" charset="-128"/>
                <a:ea typeface="Meiryo UI" panose="020B0604030504040204" pitchFamily="50" charset="-128"/>
                <a:cs typeface="Meiryo UI" panose="020B0604030504040204" pitchFamily="50" charset="-128"/>
              </a:rPr>
              <a:t>110</a:t>
            </a:r>
            <a:r>
              <a:rPr lang="ja-JP" altLang="en-US" dirty="0">
                <a:latin typeface="Meiryo UI" panose="020B0604030504040204" pitchFamily="50" charset="-128"/>
                <a:ea typeface="Meiryo UI" panose="020B0604030504040204" pitchFamily="50" charset="-128"/>
                <a:cs typeface="Meiryo UI" panose="020B0604030504040204" pitchFamily="50" charset="-128"/>
              </a:rPr>
              <a:t>円で買います」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売り手が現れた時点で当該</a:t>
            </a:r>
            <a:r>
              <a:rPr lang="en-US" altLang="ja-JP" dirty="0">
                <a:latin typeface="Meiryo UI" panose="020B0604030504040204" pitchFamily="50" charset="-128"/>
                <a:ea typeface="Meiryo UI" panose="020B0604030504040204" pitchFamily="50" charset="-128"/>
                <a:cs typeface="Meiryo UI" panose="020B0604030504040204" pitchFamily="50" charset="-128"/>
              </a:rPr>
              <a:t>unit</a:t>
            </a:r>
            <a:r>
              <a:rPr lang="ja-JP" altLang="en-US" dirty="0">
                <a:latin typeface="Meiryo UI" panose="020B0604030504040204" pitchFamily="50" charset="-128"/>
                <a:ea typeface="Meiryo UI" panose="020B0604030504040204" pitchFamily="50" charset="-128"/>
                <a:cs typeface="Meiryo UI" panose="020B0604030504040204" pitchFamily="50" charset="-128"/>
              </a:rPr>
              <a:t>の取引は成立です。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続いてすぐに次の</a:t>
            </a:r>
            <a:r>
              <a:rPr lang="en-US" altLang="ja-JP" dirty="0">
                <a:latin typeface="Meiryo UI" panose="020B0604030504040204" pitchFamily="50" charset="-128"/>
                <a:ea typeface="Meiryo UI" panose="020B0604030504040204" pitchFamily="50" charset="-128"/>
                <a:cs typeface="Meiryo UI" panose="020B0604030504040204" pitchFamily="50" charset="-128"/>
              </a:rPr>
              <a:t>unit</a:t>
            </a:r>
            <a:r>
              <a:rPr lang="ja-JP" altLang="en-US" dirty="0">
                <a:latin typeface="Meiryo UI" panose="020B0604030504040204" pitchFamily="50" charset="-128"/>
                <a:ea typeface="Meiryo UI" panose="020B0604030504040204" pitchFamily="50" charset="-128"/>
                <a:cs typeface="Meiryo UI" panose="020B0604030504040204" pitchFamily="50" charset="-128"/>
              </a:rPr>
              <a:t>の取引を開始する（</a:t>
            </a:r>
            <a:r>
              <a:rPr lang="en-US" altLang="ja-JP" dirty="0">
                <a:latin typeface="Meiryo UI" panose="020B0604030504040204" pitchFamily="50" charset="-128"/>
                <a:ea typeface="Meiryo UI" panose="020B0604030504040204" pitchFamily="50" charset="-128"/>
                <a:cs typeface="Meiryo UI" panose="020B0604030504040204" pitchFamily="50" charset="-128"/>
              </a:rPr>
              <a:t>Session</a:t>
            </a:r>
            <a:r>
              <a:rPr lang="ja-JP" altLang="en-US" dirty="0">
                <a:latin typeface="Meiryo UI" panose="020B0604030504040204" pitchFamily="50" charset="-128"/>
                <a:ea typeface="Meiryo UI" panose="020B0604030504040204" pitchFamily="50" charset="-128"/>
                <a:cs typeface="Meiryo UI" panose="020B0604030504040204" pitchFamily="50" charset="-128"/>
              </a:rPr>
              <a:t>時間内なら何</a:t>
            </a:r>
            <a:r>
              <a:rPr lang="en-US" altLang="ja-JP" dirty="0">
                <a:latin typeface="Meiryo UI" panose="020B0604030504040204" pitchFamily="50" charset="-128"/>
                <a:ea typeface="Meiryo UI" panose="020B0604030504040204" pitchFamily="50" charset="-128"/>
                <a:cs typeface="Meiryo UI" panose="020B0604030504040204" pitchFamily="50" charset="-128"/>
              </a:rPr>
              <a:t>Unit</a:t>
            </a:r>
            <a:r>
              <a:rPr lang="ja-JP" altLang="en-US" dirty="0">
                <a:latin typeface="Meiryo UI" panose="020B0604030504040204" pitchFamily="50" charset="-128"/>
                <a:ea typeface="Meiryo UI" panose="020B0604030504040204" pitchFamily="50" charset="-128"/>
                <a:cs typeface="Meiryo UI" panose="020B0604030504040204" pitchFamily="50" charset="-128"/>
              </a:rPr>
              <a:t>取引しても</a:t>
            </a:r>
            <a:r>
              <a:rPr lang="en-US" altLang="ja-JP" dirty="0">
                <a:latin typeface="Meiryo UI" panose="020B0604030504040204" pitchFamily="50" charset="-128"/>
                <a:ea typeface="Meiryo UI" panose="020B0604030504040204" pitchFamily="50" charset="-128"/>
                <a:cs typeface="Meiryo UI" panose="020B0604030504040204" pitchFamily="50" charset="-128"/>
              </a:rPr>
              <a:t>OK</a:t>
            </a:r>
            <a:r>
              <a:rPr lang="ja-JP" altLang="en-US" dirty="0">
                <a:latin typeface="Meiryo UI" panose="020B0604030504040204" pitchFamily="50" charset="-128"/>
                <a:ea typeface="Meiryo UI" panose="020B0604030504040204" pitchFamily="50" charset="-128"/>
                <a:cs typeface="Meiryo UI" panose="020B0604030504040204" pitchFamily="50" charset="-128"/>
              </a:rPr>
              <a:t>）。</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15</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　補足　実験１の手順　</a:t>
            </a:r>
            <a:r>
              <a:rPr lang="en-US" altLang="ja-JP" sz="2800" dirty="0">
                <a:latin typeface="Meiryo UI" panose="020B0604030504040204" pitchFamily="50" charset="-128"/>
                <a:ea typeface="Meiryo UI" panose="020B0604030504040204" pitchFamily="50" charset="-128"/>
                <a:cs typeface="Meiryo UI" panose="020B0604030504040204" pitchFamily="50" charset="-128"/>
              </a:rPr>
              <a:t>(5)</a:t>
            </a:r>
            <a:r>
              <a:rPr lang="ja-JP" altLang="en-US" sz="2800" dirty="0">
                <a:latin typeface="Meiryo UI" panose="020B0604030504040204" pitchFamily="50" charset="-128"/>
                <a:ea typeface="Meiryo UI" panose="020B0604030504040204" pitchFamily="50" charset="-128"/>
                <a:cs typeface="Meiryo UI" panose="020B0604030504040204" pitchFamily="50" charset="-128"/>
              </a:rPr>
              <a:t>取引について</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46260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7" y="1484784"/>
            <a:ext cx="2309015" cy="646331"/>
          </a:xfrm>
          <a:prstGeom prst="rect">
            <a:avLst/>
          </a:prstGeom>
          <a:noFill/>
        </p:spPr>
        <p:txBody>
          <a:bodyPr wrap="square" rtlCol="0">
            <a:spAutoFit/>
          </a:bodyPr>
          <a:lstStyle/>
          <a:p>
            <a:r>
              <a:rPr lang="ja-JP" altLang="en-US" dirty="0">
                <a:latin typeface="Meiryo UI" panose="020B0604030504040204" pitchFamily="50" charset="-128"/>
                <a:ea typeface="Meiryo UI" panose="020B0604030504040204" pitchFamily="50" charset="-128"/>
                <a:cs typeface="Meiryo UI" panose="020B0604030504040204" pitchFamily="50" charset="-128"/>
              </a:rPr>
              <a:t>リーダーは取引記録を以下の要領で記載する。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16</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実験１の手順：エクセルファイルへの記録の仕方</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1346662" y="3798916"/>
            <a:ext cx="1961804" cy="584775"/>
          </a:xfrm>
          <a:prstGeom prst="rect">
            <a:avLst/>
          </a:prstGeom>
          <a:noFill/>
        </p:spPr>
        <p:txBody>
          <a:bodyPr wrap="square" rtlCol="0">
            <a:spAutoFit/>
          </a:bodyPr>
          <a:lstStyle/>
          <a:p>
            <a:r>
              <a:rPr lang="ja-JP" altLang="en-US" sz="1600" dirty="0">
                <a:latin typeface="Meiryo UI" panose="020B0604030504040204" pitchFamily="50" charset="-128"/>
                <a:ea typeface="Meiryo UI" panose="020B0604030504040204" pitchFamily="50" charset="-128"/>
              </a:rPr>
              <a:t>学籍番号と名前を</a:t>
            </a:r>
            <a:r>
              <a:rPr kumimoji="1" lang="ja-JP" altLang="en-US" sz="1600" dirty="0">
                <a:latin typeface="Meiryo UI" panose="020B0604030504040204" pitchFamily="50" charset="-128"/>
                <a:ea typeface="Meiryo UI" panose="020B0604030504040204" pitchFamily="50" charset="-128"/>
              </a:rPr>
              <a:t>書く．</a:t>
            </a:r>
            <a:r>
              <a:rPr kumimoji="1" lang="ja-JP" altLang="en-US" sz="1600" dirty="0">
                <a:solidFill>
                  <a:srgbClr val="FF0000"/>
                </a:solidFill>
                <a:latin typeface="Meiryo UI" panose="020B0604030504040204" pitchFamily="50" charset="-128"/>
                <a:ea typeface="Meiryo UI" panose="020B0604030504040204" pitchFamily="50" charset="-128"/>
              </a:rPr>
              <a:t>半角</a:t>
            </a:r>
            <a:r>
              <a:rPr kumimoji="1" lang="ja-JP" altLang="en-US" sz="1600" dirty="0">
                <a:latin typeface="Meiryo UI" panose="020B0604030504040204" pitchFamily="50" charset="-128"/>
                <a:ea typeface="Meiryo UI" panose="020B0604030504040204" pitchFamily="50" charset="-128"/>
              </a:rPr>
              <a:t>で！</a:t>
            </a:r>
          </a:p>
        </p:txBody>
      </p:sp>
      <p:pic>
        <p:nvPicPr>
          <p:cNvPr id="4" name="図 3"/>
          <p:cNvPicPr>
            <a:picLocks noChangeAspect="1"/>
          </p:cNvPicPr>
          <p:nvPr/>
        </p:nvPicPr>
        <p:blipFill>
          <a:blip r:embed="rId2"/>
          <a:stretch>
            <a:fillRect/>
          </a:stretch>
        </p:blipFill>
        <p:spPr>
          <a:xfrm>
            <a:off x="4020454" y="1532211"/>
            <a:ext cx="5826750" cy="5118184"/>
          </a:xfrm>
          <a:prstGeom prst="rect">
            <a:avLst/>
          </a:prstGeom>
        </p:spPr>
      </p:pic>
      <p:sp>
        <p:nvSpPr>
          <p:cNvPr id="5" name="角丸四角形吹き出し 4"/>
          <p:cNvSpPr/>
          <p:nvPr/>
        </p:nvSpPr>
        <p:spPr>
          <a:xfrm>
            <a:off x="1088968" y="3594000"/>
            <a:ext cx="2460567" cy="1022465"/>
          </a:xfrm>
          <a:prstGeom prst="wedgeRoundRectCallout">
            <a:avLst>
              <a:gd name="adj1" fmla="val 113965"/>
              <a:gd name="adj2" fmla="val -3018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8214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2367205" cy="646331"/>
          </a:xfrm>
          <a:prstGeom prst="rect">
            <a:avLst/>
          </a:prstGeom>
          <a:noFill/>
        </p:spPr>
        <p:txBody>
          <a:bodyPr wrap="square" rtlCol="0">
            <a:spAutoFit/>
          </a:bodyPr>
          <a:lstStyle/>
          <a:p>
            <a:r>
              <a:rPr lang="ja-JP" altLang="en-US" dirty="0">
                <a:latin typeface="Meiryo UI" panose="020B0604030504040204" pitchFamily="50" charset="-128"/>
                <a:ea typeface="Meiryo UI" panose="020B0604030504040204" pitchFamily="50" charset="-128"/>
                <a:cs typeface="Meiryo UI" panose="020B0604030504040204" pitchFamily="50" charset="-128"/>
              </a:rPr>
              <a:t>リーダーは取引記録を以下の要領で記載する。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17</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実験１の手順：エクセルファイルへの記録の仕方</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p:cNvPicPr>
            <a:picLocks noChangeAspect="1"/>
          </p:cNvPicPr>
          <p:nvPr/>
        </p:nvPicPr>
        <p:blipFill>
          <a:blip r:embed="rId2"/>
          <a:stretch>
            <a:fillRect/>
          </a:stretch>
        </p:blipFill>
        <p:spPr>
          <a:xfrm>
            <a:off x="4064923" y="1348516"/>
            <a:ext cx="5951912" cy="5202065"/>
          </a:xfrm>
          <a:prstGeom prst="rect">
            <a:avLst/>
          </a:prstGeom>
        </p:spPr>
      </p:pic>
      <p:sp>
        <p:nvSpPr>
          <p:cNvPr id="5" name="角丸四角形吹き出し 4"/>
          <p:cNvSpPr/>
          <p:nvPr/>
        </p:nvSpPr>
        <p:spPr>
          <a:xfrm>
            <a:off x="897774" y="3594000"/>
            <a:ext cx="2460567" cy="1022465"/>
          </a:xfrm>
          <a:prstGeom prst="wedgeRoundRectCallout">
            <a:avLst>
              <a:gd name="adj1" fmla="val 109235"/>
              <a:gd name="adj2" fmla="val -63516"/>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1088967" y="3798916"/>
            <a:ext cx="2028305" cy="584775"/>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取引ごとに価格を記録．</a:t>
            </a:r>
            <a:r>
              <a:rPr kumimoji="1" lang="ja-JP" altLang="en-US" sz="1600" dirty="0">
                <a:solidFill>
                  <a:srgbClr val="FF0000"/>
                </a:solidFill>
                <a:latin typeface="Meiryo UI" panose="020B0604030504040204" pitchFamily="50" charset="-128"/>
                <a:ea typeface="Meiryo UI" panose="020B0604030504040204" pitchFamily="50" charset="-128"/>
              </a:rPr>
              <a:t>半角</a:t>
            </a:r>
            <a:r>
              <a:rPr kumimoji="1" lang="ja-JP" altLang="en-US" sz="1600" dirty="0">
                <a:latin typeface="Meiryo UI" panose="020B0604030504040204" pitchFamily="50" charset="-128"/>
                <a:ea typeface="Meiryo UI" panose="020B0604030504040204" pitchFamily="50" charset="-128"/>
              </a:rPr>
              <a:t>で！</a:t>
            </a:r>
          </a:p>
        </p:txBody>
      </p:sp>
    </p:spTree>
    <p:extLst>
      <p:ext uri="{BB962C8B-B14F-4D97-AF65-F5344CB8AC3E}">
        <p14:creationId xmlns:p14="http://schemas.microsoft.com/office/powerpoint/2010/main" val="3806436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2732965" cy="1477328"/>
          </a:xfrm>
          <a:prstGeom prst="rect">
            <a:avLst/>
          </a:prstGeom>
          <a:noFill/>
        </p:spPr>
        <p:txBody>
          <a:bodyPr wrap="square" rtlCol="0">
            <a:spAutoFit/>
          </a:bodyPr>
          <a:lstStyle/>
          <a:p>
            <a:r>
              <a:rPr lang="ja-JP" altLang="en-US" dirty="0">
                <a:latin typeface="Meiryo UI" panose="020B0604030504040204" pitchFamily="50" charset="-128"/>
                <a:ea typeface="Meiryo UI" panose="020B0604030504040204" pitchFamily="50" charset="-128"/>
                <a:cs typeface="Meiryo UI" panose="020B0604030504040204" pitchFamily="50" charset="-128"/>
              </a:rPr>
              <a:t>リーダー以外の被験者（</a:t>
            </a:r>
            <a:r>
              <a:rPr lang="en-US" altLang="ja-JP" dirty="0">
                <a:latin typeface="Meiryo UI" panose="020B0604030504040204" pitchFamily="50" charset="-128"/>
                <a:ea typeface="Meiryo UI" panose="020B0604030504040204" pitchFamily="50" charset="-128"/>
                <a:cs typeface="Meiryo UI" panose="020B0604030504040204" pitchFamily="50" charset="-128"/>
              </a:rPr>
              <a:t>Traders</a:t>
            </a:r>
            <a:r>
              <a:rPr lang="ja-JP" altLang="en-US" dirty="0">
                <a:latin typeface="Meiryo UI" panose="020B0604030504040204" pitchFamily="50" charset="-128"/>
                <a:ea typeface="Meiryo UI" panose="020B0604030504040204" pitchFamily="50" charset="-128"/>
                <a:cs typeface="Meiryo UI" panose="020B0604030504040204" pitchFamily="50" charset="-128"/>
              </a:rPr>
              <a:t>）は取引記録を以下の要領で記載する。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あなたが</a:t>
            </a:r>
            <a:r>
              <a:rPr lang="en-US" altLang="ja-JP" dirty="0">
                <a:latin typeface="Meiryo UI" panose="020B0604030504040204" pitchFamily="50" charset="-128"/>
                <a:ea typeface="Meiryo UI" panose="020B0604030504040204" pitchFamily="50" charset="-128"/>
                <a:cs typeface="Meiryo UI" panose="020B0604030504040204" pitchFamily="50" charset="-128"/>
              </a:rPr>
              <a:t>Seller</a:t>
            </a:r>
            <a:r>
              <a:rPr lang="ja-JP" altLang="en-US" dirty="0">
                <a:latin typeface="Meiryo UI" panose="020B0604030504040204" pitchFamily="50" charset="-128"/>
                <a:ea typeface="Meiryo UI" panose="020B0604030504040204" pitchFamily="50" charset="-128"/>
                <a:cs typeface="Meiryo UI" panose="020B0604030504040204" pitchFamily="50" charset="-128"/>
              </a:rPr>
              <a:t>の場合</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18</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実験１の手順：エクセルファイルへの記録の仕方</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p:nvSpPr>
        <p:spPr>
          <a:xfrm>
            <a:off x="8802126" y="3536448"/>
            <a:ext cx="2269374" cy="1815882"/>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取引ごとに価格と収益を記録．</a:t>
            </a:r>
            <a:r>
              <a:rPr lang="ja-JP" altLang="en-US" sz="1600" dirty="0">
                <a:solidFill>
                  <a:srgbClr val="FF0000"/>
                </a:solidFill>
                <a:latin typeface="Meiryo UI" panose="020B0604030504040204" pitchFamily="50" charset="-128"/>
                <a:ea typeface="Meiryo UI" panose="020B0604030504040204" pitchFamily="50" charset="-128"/>
              </a:rPr>
              <a:t>半角</a:t>
            </a:r>
            <a:r>
              <a:rPr lang="ja-JP" altLang="en-US" sz="1600" dirty="0">
                <a:latin typeface="Meiryo UI" panose="020B0604030504040204" pitchFamily="50" charset="-128"/>
                <a:ea typeface="Meiryo UI" panose="020B0604030504040204" pitchFamily="50" charset="-128"/>
              </a:rPr>
              <a:t>で！</a:t>
            </a:r>
          </a:p>
          <a:p>
            <a:endParaRPr kumimoji="1" lang="en-US" altLang="ja-JP" sz="1600" dirty="0">
              <a:latin typeface="Meiryo UI" panose="020B0604030504040204" pitchFamily="50" charset="-128"/>
              <a:ea typeface="Meiryo UI" panose="020B0604030504040204" pitchFamily="50" charset="-128"/>
            </a:endParaRPr>
          </a:p>
          <a:p>
            <a:r>
              <a:rPr lang="en-US" altLang="ja-JP" sz="1600" dirty="0">
                <a:latin typeface="Meiryo UI" panose="020B0604030504040204" pitchFamily="50" charset="-128"/>
                <a:ea typeface="Meiryo UI" panose="020B0604030504040204" pitchFamily="50" charset="-128"/>
              </a:rPr>
              <a:t>revenue</a:t>
            </a:r>
            <a:r>
              <a:rPr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trade price – MARGINAL COST</a:t>
            </a:r>
          </a:p>
          <a:p>
            <a:r>
              <a:rPr lang="en-US" altLang="ja-JP" sz="1600" dirty="0">
                <a:latin typeface="Meiryo UI" panose="020B0604030504040204" pitchFamily="50" charset="-128"/>
                <a:ea typeface="Meiryo UI" panose="020B0604030504040204" pitchFamily="50" charset="-128"/>
              </a:rPr>
              <a:t>+commission</a:t>
            </a:r>
          </a:p>
          <a:p>
            <a:r>
              <a:rPr lang="ja-JP" altLang="en-US" sz="1600" dirty="0">
                <a:latin typeface="Meiryo UI" panose="020B0604030504040204" pitchFamily="50" charset="-128"/>
                <a:ea typeface="Meiryo UI" panose="020B0604030504040204" pitchFamily="50" charset="-128"/>
              </a:rPr>
              <a:t>で計算する．</a:t>
            </a:r>
            <a:endParaRPr kumimoji="1" lang="ja-JP" altLang="en-US" sz="1600" dirty="0">
              <a:latin typeface="Meiryo UI" panose="020B0604030504040204" pitchFamily="50" charset="-128"/>
              <a:ea typeface="Meiryo UI" panose="020B0604030504040204" pitchFamily="50" charset="-128"/>
            </a:endParaRPr>
          </a:p>
        </p:txBody>
      </p:sp>
      <p:pic>
        <p:nvPicPr>
          <p:cNvPr id="4" name="図 3"/>
          <p:cNvPicPr>
            <a:picLocks noChangeAspect="1"/>
          </p:cNvPicPr>
          <p:nvPr/>
        </p:nvPicPr>
        <p:blipFill>
          <a:blip r:embed="rId2"/>
          <a:stretch>
            <a:fillRect/>
          </a:stretch>
        </p:blipFill>
        <p:spPr>
          <a:xfrm>
            <a:off x="3358341" y="1293874"/>
            <a:ext cx="5171382" cy="5477295"/>
          </a:xfrm>
          <a:prstGeom prst="rect">
            <a:avLst/>
          </a:prstGeom>
        </p:spPr>
      </p:pic>
      <p:sp>
        <p:nvSpPr>
          <p:cNvPr id="8" name="角丸四角形吹き出し 7"/>
          <p:cNvSpPr/>
          <p:nvPr/>
        </p:nvSpPr>
        <p:spPr>
          <a:xfrm>
            <a:off x="8661533" y="3419432"/>
            <a:ext cx="2576946" cy="1932898"/>
          </a:xfrm>
          <a:prstGeom prst="wedgeRoundRectCallout">
            <a:avLst>
              <a:gd name="adj1" fmla="val -157391"/>
              <a:gd name="adj2" fmla="val -23742"/>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p:cNvSpPr txBox="1"/>
          <p:nvPr/>
        </p:nvSpPr>
        <p:spPr>
          <a:xfrm>
            <a:off x="872830" y="3688848"/>
            <a:ext cx="2269374" cy="1815882"/>
          </a:xfrm>
          <a:prstGeom prst="rect">
            <a:avLst/>
          </a:prstGeom>
          <a:noFill/>
        </p:spPr>
        <p:txBody>
          <a:bodyPr wrap="square" rtlCol="0">
            <a:spAutoFit/>
          </a:bodyPr>
          <a:lstStyle/>
          <a:p>
            <a:r>
              <a:rPr kumimoji="1" lang="ja-JP" altLang="en-US" sz="1600" dirty="0">
                <a:solidFill>
                  <a:srgbClr val="FF0000"/>
                </a:solidFill>
                <a:latin typeface="Meiryo UI" panose="020B0604030504040204" pitchFamily="50" charset="-128"/>
                <a:ea typeface="Meiryo UI" panose="020B0604030504040204" pitchFamily="50" charset="-128"/>
              </a:rPr>
              <a:t>すでに</a:t>
            </a:r>
            <a:r>
              <a:rPr kumimoji="1" lang="en-US" altLang="ja-JP" sz="1600" dirty="0">
                <a:solidFill>
                  <a:srgbClr val="FF0000"/>
                </a:solidFill>
                <a:latin typeface="Meiryo UI" panose="020B0604030504040204" pitchFamily="50" charset="-128"/>
                <a:ea typeface="Meiryo UI" panose="020B0604030504040204" pitchFamily="50" charset="-128"/>
              </a:rPr>
              <a:t>1unit</a:t>
            </a:r>
            <a:r>
              <a:rPr kumimoji="1" lang="ja-JP" altLang="en-US" sz="1600" dirty="0">
                <a:solidFill>
                  <a:srgbClr val="FF0000"/>
                </a:solidFill>
                <a:latin typeface="Meiryo UI" panose="020B0604030504040204" pitchFamily="50" charset="-128"/>
                <a:ea typeface="Meiryo UI" panose="020B0604030504040204" pitchFamily="50" charset="-128"/>
              </a:rPr>
              <a:t>売っている場合</a:t>
            </a:r>
            <a:r>
              <a:rPr lang="ja-JP" altLang="en-US" sz="1600" dirty="0">
                <a:solidFill>
                  <a:srgbClr val="FF0000"/>
                </a:solidFill>
                <a:latin typeface="Meiryo UI" panose="020B0604030504040204" pitchFamily="50" charset="-128"/>
                <a:ea typeface="Meiryo UI" panose="020B0604030504040204" pitchFamily="50" charset="-128"/>
              </a:rPr>
              <a:t>、次の取引では生産の限界コスト</a:t>
            </a:r>
            <a:r>
              <a:rPr lang="en-US" altLang="ja-JP" sz="1600" dirty="0">
                <a:solidFill>
                  <a:srgbClr val="FF0000"/>
                </a:solidFill>
                <a:latin typeface="Meiryo UI" panose="020B0604030504040204" pitchFamily="50" charset="-128"/>
                <a:ea typeface="Meiryo UI" panose="020B0604030504040204" pitchFamily="50" charset="-128"/>
              </a:rPr>
              <a:t>(marginal cost)</a:t>
            </a:r>
            <a:r>
              <a:rPr lang="ja-JP" altLang="en-US" sz="1600" dirty="0">
                <a:solidFill>
                  <a:srgbClr val="FF0000"/>
                </a:solidFill>
                <a:latin typeface="Meiryo UI" panose="020B0604030504040204" pitchFamily="50" charset="-128"/>
                <a:ea typeface="Meiryo UI" panose="020B0604030504040204" pitchFamily="50" charset="-128"/>
              </a:rPr>
              <a:t>は</a:t>
            </a:r>
            <a:r>
              <a:rPr lang="en-US" altLang="ja-JP" sz="1600" dirty="0">
                <a:solidFill>
                  <a:srgbClr val="FF0000"/>
                </a:solidFill>
                <a:latin typeface="Meiryo UI" panose="020B0604030504040204" pitchFamily="50" charset="-128"/>
                <a:ea typeface="Meiryo UI" panose="020B0604030504040204" pitchFamily="50" charset="-128"/>
              </a:rPr>
              <a:t>854</a:t>
            </a:r>
            <a:r>
              <a:rPr lang="ja-JP" altLang="en-US" sz="1600" dirty="0">
                <a:solidFill>
                  <a:srgbClr val="FF0000"/>
                </a:solidFill>
                <a:latin typeface="Meiryo UI" panose="020B0604030504040204" pitchFamily="50" charset="-128"/>
                <a:ea typeface="Meiryo UI" panose="020B0604030504040204" pitchFamily="50" charset="-128"/>
              </a:rPr>
              <a:t>円に上昇するので注意．</a:t>
            </a:r>
            <a:endParaRPr lang="en-US" altLang="ja-JP" sz="1600" dirty="0">
              <a:solidFill>
                <a:srgbClr val="FF0000"/>
              </a:solidFill>
              <a:latin typeface="Meiryo UI" panose="020B0604030504040204" pitchFamily="50" charset="-128"/>
              <a:ea typeface="Meiryo UI" panose="020B0604030504040204" pitchFamily="50" charset="-128"/>
            </a:endParaRPr>
          </a:p>
          <a:p>
            <a:r>
              <a:rPr kumimoji="1" lang="ja-JP" altLang="en-US" sz="1600" dirty="0">
                <a:solidFill>
                  <a:srgbClr val="FF0000"/>
                </a:solidFill>
                <a:latin typeface="Meiryo UI" panose="020B0604030504040204" pitchFamily="50" charset="-128"/>
                <a:ea typeface="Meiryo UI" panose="020B0604030504040204" pitchFamily="50" charset="-128"/>
              </a:rPr>
              <a:t>たとえ同じ額で売っても利益は減少します。</a:t>
            </a:r>
          </a:p>
        </p:txBody>
      </p:sp>
      <p:sp>
        <p:nvSpPr>
          <p:cNvPr id="11" name="角丸四角形吹き出し 10"/>
          <p:cNvSpPr/>
          <p:nvPr/>
        </p:nvSpPr>
        <p:spPr>
          <a:xfrm>
            <a:off x="595353" y="3571832"/>
            <a:ext cx="2576946" cy="1932898"/>
          </a:xfrm>
          <a:prstGeom prst="wedgeRoundRectCallout">
            <a:avLst>
              <a:gd name="adj1" fmla="val 139866"/>
              <a:gd name="adj2" fmla="val -51504"/>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23130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683566" y="1484784"/>
            <a:ext cx="2732965" cy="1477328"/>
          </a:xfrm>
          <a:prstGeom prst="rect">
            <a:avLst/>
          </a:prstGeom>
          <a:noFill/>
        </p:spPr>
        <p:txBody>
          <a:bodyPr wrap="square" rtlCol="0">
            <a:spAutoFit/>
          </a:bodyPr>
          <a:lstStyle/>
          <a:p>
            <a:r>
              <a:rPr lang="ja-JP" altLang="en-US" dirty="0">
                <a:latin typeface="Meiryo UI" panose="020B0604030504040204" pitchFamily="50" charset="-128"/>
                <a:ea typeface="Meiryo UI" panose="020B0604030504040204" pitchFamily="50" charset="-128"/>
                <a:cs typeface="Meiryo UI" panose="020B0604030504040204" pitchFamily="50" charset="-128"/>
              </a:rPr>
              <a:t>リーダー以外の被験者（</a:t>
            </a:r>
            <a:r>
              <a:rPr lang="en-US" altLang="ja-JP" dirty="0">
                <a:latin typeface="Meiryo UI" panose="020B0604030504040204" pitchFamily="50" charset="-128"/>
                <a:ea typeface="Meiryo UI" panose="020B0604030504040204" pitchFamily="50" charset="-128"/>
                <a:cs typeface="Meiryo UI" panose="020B0604030504040204" pitchFamily="50" charset="-128"/>
              </a:rPr>
              <a:t>Traders</a:t>
            </a:r>
            <a:r>
              <a:rPr lang="ja-JP" altLang="en-US" dirty="0">
                <a:latin typeface="Meiryo UI" panose="020B0604030504040204" pitchFamily="50" charset="-128"/>
                <a:ea typeface="Meiryo UI" panose="020B0604030504040204" pitchFamily="50" charset="-128"/>
                <a:cs typeface="Meiryo UI" panose="020B0604030504040204" pitchFamily="50" charset="-128"/>
              </a:rPr>
              <a:t>）は取引記録を以下の要領で記載する。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dirty="0">
                <a:latin typeface="Meiryo UI" panose="020B0604030504040204" pitchFamily="50" charset="-128"/>
                <a:ea typeface="Meiryo UI" panose="020B0604030504040204" pitchFamily="50" charset="-128"/>
                <a:cs typeface="Meiryo UI" panose="020B0604030504040204" pitchFamily="50" charset="-128"/>
              </a:rPr>
              <a:t>あなたが</a:t>
            </a:r>
            <a:r>
              <a:rPr lang="en-US" altLang="ja-JP" dirty="0">
                <a:latin typeface="Meiryo UI" panose="020B0604030504040204" pitchFamily="50" charset="-128"/>
                <a:ea typeface="Meiryo UI" panose="020B0604030504040204" pitchFamily="50" charset="-128"/>
                <a:cs typeface="Meiryo UI" panose="020B0604030504040204" pitchFamily="50" charset="-128"/>
              </a:rPr>
              <a:t>Buyer</a:t>
            </a:r>
            <a:r>
              <a:rPr lang="ja-JP" altLang="en-US" dirty="0">
                <a:latin typeface="Meiryo UI" panose="020B0604030504040204" pitchFamily="50" charset="-128"/>
                <a:ea typeface="Meiryo UI" panose="020B0604030504040204" pitchFamily="50" charset="-128"/>
                <a:cs typeface="Meiryo UI" panose="020B0604030504040204" pitchFamily="50" charset="-128"/>
              </a:rPr>
              <a:t>の場合</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スライド番号プレースホルダー 1"/>
          <p:cNvSpPr>
            <a:spLocks noGrp="1"/>
          </p:cNvSpPr>
          <p:nvPr>
            <p:ph type="sldNum" sz="quarter" idx="12"/>
          </p:nvPr>
        </p:nvSpPr>
        <p:spPr/>
        <p:txBody>
          <a:bodyPr/>
          <a:lstStyle/>
          <a:p>
            <a:fld id="{DFA21371-1B66-4048-8620-D926595BF01D}" type="slidenum">
              <a:rPr kumimoji="1" lang="ja-JP" altLang="en-US" smtClean="0"/>
              <a:t>19</a:t>
            </a:fld>
            <a:endParaRPr kumimoji="1" lang="ja-JP" altLang="en-US"/>
          </a:p>
        </p:txBody>
      </p:sp>
      <p:sp>
        <p:nvSpPr>
          <p:cNvPr id="6" name="テキスト ボックス 5">
            <a:extLst>
              <a:ext uri="{FF2B5EF4-FFF2-40B4-BE49-F238E27FC236}">
                <a16:creationId xmlns:a16="http://schemas.microsoft.com/office/drawing/2014/main" id="{475D833D-4233-4120-AFE4-9675160782B8}"/>
              </a:ext>
            </a:extLst>
          </p:cNvPr>
          <p:cNvSpPr txBox="1"/>
          <p:nvPr/>
        </p:nvSpPr>
        <p:spPr>
          <a:xfrm>
            <a:off x="683567" y="520687"/>
            <a:ext cx="10671787" cy="523220"/>
          </a:xfrm>
          <a:prstGeom prst="rect">
            <a:avLst/>
          </a:prstGeom>
          <a:noFill/>
        </p:spPr>
        <p:txBody>
          <a:bodyPr wrap="square" rtlCol="0">
            <a:spAutoFit/>
          </a:bodyPr>
          <a:lstStyle/>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実験１の手順：エクセルファイルへの記録の仕方</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角丸四角形 8">
            <a:extLst>
              <a:ext uri="{FF2B5EF4-FFF2-40B4-BE49-F238E27FC236}">
                <a16:creationId xmlns:a16="http://schemas.microsoft.com/office/drawing/2014/main" id="{F283EEFF-0E5B-4C03-8207-DADEAED5B65B}"/>
              </a:ext>
            </a:extLst>
          </p:cNvPr>
          <p:cNvSpPr/>
          <p:nvPr/>
        </p:nvSpPr>
        <p:spPr>
          <a:xfrm>
            <a:off x="683568" y="448679"/>
            <a:ext cx="10961036"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p:nvSpPr>
        <p:spPr>
          <a:xfrm>
            <a:off x="8802126" y="3536448"/>
            <a:ext cx="2551674" cy="1815882"/>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取引ごとに価格と収益を記録．</a:t>
            </a:r>
            <a:r>
              <a:rPr lang="ja-JP" altLang="en-US" sz="1600" dirty="0">
                <a:solidFill>
                  <a:srgbClr val="FF0000"/>
                </a:solidFill>
                <a:latin typeface="Meiryo UI" panose="020B0604030504040204" pitchFamily="50" charset="-128"/>
                <a:ea typeface="Meiryo UI" panose="020B0604030504040204" pitchFamily="50" charset="-128"/>
              </a:rPr>
              <a:t>半角</a:t>
            </a:r>
            <a:r>
              <a:rPr lang="ja-JP" altLang="en-US" sz="1600" dirty="0">
                <a:latin typeface="Meiryo UI" panose="020B0604030504040204" pitchFamily="50" charset="-128"/>
                <a:ea typeface="Meiryo UI" panose="020B0604030504040204" pitchFamily="50" charset="-128"/>
              </a:rPr>
              <a:t>で！</a:t>
            </a:r>
          </a:p>
          <a:p>
            <a:endParaRPr kumimoji="1" lang="en-US" altLang="ja-JP" sz="1600" dirty="0">
              <a:latin typeface="Meiryo UI" panose="020B0604030504040204" pitchFamily="50" charset="-128"/>
              <a:ea typeface="Meiryo UI" panose="020B0604030504040204" pitchFamily="50" charset="-128"/>
            </a:endParaRPr>
          </a:p>
          <a:p>
            <a:r>
              <a:rPr lang="en-US" altLang="ja-JP" sz="1600" dirty="0">
                <a:latin typeface="Meiryo UI" panose="020B0604030504040204" pitchFamily="50" charset="-128"/>
                <a:ea typeface="Meiryo UI" panose="020B0604030504040204" pitchFamily="50" charset="-128"/>
              </a:rPr>
              <a:t>revenue</a:t>
            </a:r>
            <a:r>
              <a:rPr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REDEMPTION</a:t>
            </a:r>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VALUE – trade price +commission</a:t>
            </a:r>
          </a:p>
          <a:p>
            <a:r>
              <a:rPr lang="ja-JP" altLang="en-US" sz="1600" dirty="0">
                <a:latin typeface="Meiryo UI" panose="020B0604030504040204" pitchFamily="50" charset="-128"/>
                <a:ea typeface="Meiryo UI" panose="020B0604030504040204" pitchFamily="50" charset="-128"/>
              </a:rPr>
              <a:t>で計算する．</a:t>
            </a:r>
            <a:endParaRPr kumimoji="1" lang="ja-JP" altLang="en-US" sz="1600" dirty="0">
              <a:latin typeface="Meiryo UI" panose="020B0604030504040204" pitchFamily="50" charset="-128"/>
              <a:ea typeface="Meiryo UI" panose="020B0604030504040204" pitchFamily="50" charset="-128"/>
            </a:endParaRPr>
          </a:p>
        </p:txBody>
      </p:sp>
      <p:pic>
        <p:nvPicPr>
          <p:cNvPr id="3" name="図 2"/>
          <p:cNvPicPr>
            <a:picLocks noChangeAspect="1"/>
          </p:cNvPicPr>
          <p:nvPr/>
        </p:nvPicPr>
        <p:blipFill>
          <a:blip r:embed="rId2"/>
          <a:stretch>
            <a:fillRect/>
          </a:stretch>
        </p:blipFill>
        <p:spPr>
          <a:xfrm>
            <a:off x="3340471" y="1412488"/>
            <a:ext cx="5154083" cy="5308987"/>
          </a:xfrm>
          <a:prstGeom prst="rect">
            <a:avLst/>
          </a:prstGeom>
        </p:spPr>
      </p:pic>
      <p:sp>
        <p:nvSpPr>
          <p:cNvPr id="8" name="角丸四角形吹き出し 7"/>
          <p:cNvSpPr/>
          <p:nvPr/>
        </p:nvSpPr>
        <p:spPr>
          <a:xfrm>
            <a:off x="8661532" y="3419432"/>
            <a:ext cx="2819267" cy="1932898"/>
          </a:xfrm>
          <a:prstGeom prst="wedgeRoundRectCallout">
            <a:avLst>
              <a:gd name="adj1" fmla="val -157391"/>
              <a:gd name="adj2" fmla="val -23742"/>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p:cNvSpPr txBox="1"/>
          <p:nvPr/>
        </p:nvSpPr>
        <p:spPr>
          <a:xfrm>
            <a:off x="872830" y="3688848"/>
            <a:ext cx="2269374" cy="1815882"/>
          </a:xfrm>
          <a:prstGeom prst="rect">
            <a:avLst/>
          </a:prstGeom>
          <a:noFill/>
        </p:spPr>
        <p:txBody>
          <a:bodyPr wrap="square" rtlCol="0">
            <a:spAutoFit/>
          </a:bodyPr>
          <a:lstStyle/>
          <a:p>
            <a:r>
              <a:rPr kumimoji="1" lang="ja-JP" altLang="en-US" sz="1600" dirty="0">
                <a:solidFill>
                  <a:srgbClr val="FF0000"/>
                </a:solidFill>
                <a:latin typeface="Meiryo UI" panose="020B0604030504040204" pitchFamily="50" charset="-128"/>
                <a:ea typeface="Meiryo UI" panose="020B0604030504040204" pitchFamily="50" charset="-128"/>
              </a:rPr>
              <a:t>すでに</a:t>
            </a:r>
            <a:r>
              <a:rPr kumimoji="1" lang="en-US" altLang="ja-JP" sz="1600" dirty="0">
                <a:solidFill>
                  <a:srgbClr val="FF0000"/>
                </a:solidFill>
                <a:latin typeface="Meiryo UI" panose="020B0604030504040204" pitchFamily="50" charset="-128"/>
                <a:ea typeface="Meiryo UI" panose="020B0604030504040204" pitchFamily="50" charset="-128"/>
              </a:rPr>
              <a:t>1unit</a:t>
            </a:r>
            <a:r>
              <a:rPr kumimoji="1" lang="ja-JP" altLang="en-US" sz="1600" dirty="0">
                <a:solidFill>
                  <a:srgbClr val="FF0000"/>
                </a:solidFill>
                <a:latin typeface="Meiryo UI" panose="020B0604030504040204" pitchFamily="50" charset="-128"/>
                <a:ea typeface="Meiryo UI" panose="020B0604030504040204" pitchFamily="50" charset="-128"/>
              </a:rPr>
              <a:t>買っている場合</a:t>
            </a:r>
            <a:r>
              <a:rPr lang="ja-JP" altLang="en-US" sz="1600" dirty="0">
                <a:solidFill>
                  <a:srgbClr val="FF0000"/>
                </a:solidFill>
                <a:latin typeface="Meiryo UI" panose="020B0604030504040204" pitchFamily="50" charset="-128"/>
                <a:ea typeface="Meiryo UI" panose="020B0604030504040204" pitchFamily="50" charset="-128"/>
              </a:rPr>
              <a:t>、次の取引では財の評価値</a:t>
            </a:r>
            <a:r>
              <a:rPr lang="en-US" altLang="ja-JP" sz="1600" dirty="0">
                <a:solidFill>
                  <a:srgbClr val="FF0000"/>
                </a:solidFill>
                <a:latin typeface="Meiryo UI" panose="020B0604030504040204" pitchFamily="50" charset="-128"/>
                <a:ea typeface="Meiryo UI" panose="020B0604030504040204" pitchFamily="50" charset="-128"/>
              </a:rPr>
              <a:t>(redemption value)</a:t>
            </a:r>
            <a:r>
              <a:rPr lang="ja-JP" altLang="en-US" sz="1600" dirty="0">
                <a:solidFill>
                  <a:srgbClr val="FF0000"/>
                </a:solidFill>
                <a:latin typeface="Meiryo UI" panose="020B0604030504040204" pitchFamily="50" charset="-128"/>
                <a:ea typeface="Meiryo UI" panose="020B0604030504040204" pitchFamily="50" charset="-128"/>
              </a:rPr>
              <a:t>は</a:t>
            </a:r>
            <a:r>
              <a:rPr lang="en-US" altLang="ja-JP" sz="1600" dirty="0">
                <a:solidFill>
                  <a:srgbClr val="FF0000"/>
                </a:solidFill>
                <a:latin typeface="Meiryo UI" panose="020B0604030504040204" pitchFamily="50" charset="-128"/>
                <a:ea typeface="Meiryo UI" panose="020B0604030504040204" pitchFamily="50" charset="-128"/>
              </a:rPr>
              <a:t>726</a:t>
            </a:r>
            <a:r>
              <a:rPr lang="ja-JP" altLang="en-US" sz="1600" dirty="0">
                <a:solidFill>
                  <a:srgbClr val="FF0000"/>
                </a:solidFill>
                <a:latin typeface="Meiryo UI" panose="020B0604030504040204" pitchFamily="50" charset="-128"/>
                <a:ea typeface="Meiryo UI" panose="020B0604030504040204" pitchFamily="50" charset="-128"/>
              </a:rPr>
              <a:t>円に減少するので注意．</a:t>
            </a:r>
            <a:endParaRPr lang="en-US" altLang="ja-JP" sz="1600" dirty="0">
              <a:solidFill>
                <a:srgbClr val="FF0000"/>
              </a:solidFill>
              <a:latin typeface="Meiryo UI" panose="020B0604030504040204" pitchFamily="50" charset="-128"/>
              <a:ea typeface="Meiryo UI" panose="020B0604030504040204" pitchFamily="50" charset="-128"/>
            </a:endParaRPr>
          </a:p>
          <a:p>
            <a:r>
              <a:rPr kumimoji="1" lang="ja-JP" altLang="en-US" sz="1600" dirty="0">
                <a:solidFill>
                  <a:srgbClr val="FF0000"/>
                </a:solidFill>
                <a:latin typeface="Meiryo UI" panose="020B0604030504040204" pitchFamily="50" charset="-128"/>
                <a:ea typeface="Meiryo UI" panose="020B0604030504040204" pitchFamily="50" charset="-128"/>
              </a:rPr>
              <a:t>たとえ同じ額で買っても利益は減少します。</a:t>
            </a:r>
          </a:p>
        </p:txBody>
      </p:sp>
      <p:sp>
        <p:nvSpPr>
          <p:cNvPr id="11" name="角丸四角形吹き出し 10"/>
          <p:cNvSpPr/>
          <p:nvPr/>
        </p:nvSpPr>
        <p:spPr>
          <a:xfrm>
            <a:off x="595353" y="3571832"/>
            <a:ext cx="2576946" cy="1932898"/>
          </a:xfrm>
          <a:prstGeom prst="wedgeRoundRectCallout">
            <a:avLst>
              <a:gd name="adj1" fmla="val 139866"/>
              <a:gd name="adj2" fmla="val -51504"/>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3901250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2167</TotalTime>
  <Words>2286</Words>
  <Application>Microsoft Office PowerPoint</Application>
  <PresentationFormat>ワイド画面</PresentationFormat>
  <Paragraphs>200</Paragraphs>
  <Slides>19</Slides>
  <Notes>0</Notes>
  <HiddenSlides>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19</vt:i4>
      </vt:variant>
    </vt:vector>
  </HeadingPairs>
  <TitlesOfParts>
    <vt:vector size="24" baseType="lpstr">
      <vt:lpstr>Meiryo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Shimokawa Tetsuya</dc:creator>
  <cp:lastModifiedBy> </cp:lastModifiedBy>
  <cp:revision>30</cp:revision>
  <cp:lastPrinted>2025-04-18T06:25:35Z</cp:lastPrinted>
  <dcterms:created xsi:type="dcterms:W3CDTF">2020-09-04T01:31:47Z</dcterms:created>
  <dcterms:modified xsi:type="dcterms:W3CDTF">2025-04-23T03:02:07Z</dcterms:modified>
</cp:coreProperties>
</file>
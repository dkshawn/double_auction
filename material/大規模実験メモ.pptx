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7104063" cy="102346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90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DD7C-F394-4190-B8B8-4CFB4C73F482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6C733-EA61-4714-948F-B5BD69CB2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9850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DD7C-F394-4190-B8B8-4CFB4C73F482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6C733-EA61-4714-948F-B5BD69CB2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1431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DD7C-F394-4190-B8B8-4CFB4C73F482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6C733-EA61-4714-948F-B5BD69CB2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2888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DD7C-F394-4190-B8B8-4CFB4C73F482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6C733-EA61-4714-948F-B5BD69CB2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4028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DD7C-F394-4190-B8B8-4CFB4C73F482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6C733-EA61-4714-948F-B5BD69CB2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7918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DD7C-F394-4190-B8B8-4CFB4C73F482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6C733-EA61-4714-948F-B5BD69CB2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7711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DD7C-F394-4190-B8B8-4CFB4C73F482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6C733-EA61-4714-948F-B5BD69CB2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4904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DD7C-F394-4190-B8B8-4CFB4C73F482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6C733-EA61-4714-948F-B5BD69CB2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8591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DD7C-F394-4190-B8B8-4CFB4C73F482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6C733-EA61-4714-948F-B5BD69CB2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0998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DD7C-F394-4190-B8B8-4CFB4C73F482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6C733-EA61-4714-948F-B5BD69CB2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682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DD7C-F394-4190-B8B8-4CFB4C73F482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6C733-EA61-4714-948F-B5BD69CB2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694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7DD7C-F394-4190-B8B8-4CFB4C73F482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6C733-EA61-4714-948F-B5BD69CB2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9675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9536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Meiryo U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03120"/>
            <a:ext cx="10963656" cy="2773679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5A5A5A"/>
                </a:solidFill>
                <a:latin typeface="Meiryo UI"/>
              </a:rPr>
              <a:t>2026年度　実験経済学</a:t>
            </a:r>
          </a:p>
          <a:p>
            <a:pPr algn="l">
              <a:spcAft>
                <a:spcPts val="400"/>
              </a:spcAft>
            </a:pPr>
            <a:endParaRPr sz="2400" b="0">
              <a:solidFill>
                <a:srgbClr val="5A5A5A"/>
              </a:solidFill>
              <a:latin typeface="Meiryo UI"/>
            </a:endParaRPr>
          </a:p>
          <a:p>
            <a:pPr algn="l">
              <a:spcAft>
                <a:spcPts val="400"/>
              </a:spcAft>
            </a:pPr>
            <a:r>
              <a:rPr sz="4000" b="1">
                <a:solidFill>
                  <a:srgbClr val="1E406E"/>
                </a:solidFill>
                <a:latin typeface="Meiryo UI"/>
              </a:rPr>
              <a:t>大規模オンライン実験メモ</a:t>
            </a:r>
          </a:p>
          <a:p>
            <a:pPr algn="l">
              <a:spcAft>
                <a:spcPts val="400"/>
              </a:spcAft>
            </a:pPr>
            <a:endParaRPr sz="4000" b="1">
              <a:solidFill>
                <a:srgbClr val="1E406E"/>
              </a:solidFill>
              <a:latin typeface="Meiryo UI"/>
            </a:endParaRP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1A1A1A"/>
                </a:solidFill>
                <a:latin typeface="Meiryo UI"/>
              </a:rPr>
              <a:t>実験1　CDA・Call Market・Posted Offer の制度比較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1A1A1A"/>
                </a:solidFill>
                <a:latin typeface="Meiryo UI"/>
              </a:rPr>
              <a:t>実験2　Dealer Market：競争と逆選択（Krahnen &amp; Weber 型）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9536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Meiryo U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63656" cy="430887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dirty="0" err="1">
                <a:solidFill>
                  <a:srgbClr val="1E406E"/>
                </a:solidFill>
                <a:latin typeface="Meiryo UI"/>
              </a:rPr>
              <a:t>全体設計：実験</a:t>
            </a:r>
            <a:r>
              <a:rPr lang="ja-JP" altLang="en-US" sz="2800" b="1" dirty="0">
                <a:solidFill>
                  <a:srgbClr val="1E406E"/>
                </a:solidFill>
                <a:latin typeface="Meiryo UI"/>
              </a:rPr>
              <a:t>は</a:t>
            </a:r>
            <a:r>
              <a:rPr sz="2800" b="1" dirty="0">
                <a:solidFill>
                  <a:srgbClr val="1E406E"/>
                </a:solidFill>
                <a:latin typeface="Meiryo UI"/>
              </a:rPr>
              <a:t>2</a:t>
            </a:r>
            <a:r>
              <a:rPr lang="ja-JP" altLang="en-US" sz="2800" b="1" dirty="0">
                <a:solidFill>
                  <a:srgbClr val="1E406E"/>
                </a:solidFill>
                <a:latin typeface="Meiryo UI"/>
              </a:rPr>
              <a:t>種類</a:t>
            </a:r>
            <a:endParaRPr sz="2800" b="1" dirty="0">
              <a:solidFill>
                <a:srgbClr val="1E406E"/>
              </a:solidFill>
              <a:latin typeface="Meiryo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963656" cy="4478149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ja-JP" altLang="en-US" sz="2000" b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実験１は　実験経済学</a:t>
            </a:r>
            <a:r>
              <a:rPr lang="en-US" altLang="ja-JP" sz="2000" b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Topic2_2_1.pptx</a:t>
            </a:r>
            <a:r>
              <a:rPr lang="ja-JP" altLang="en-US" sz="2000" b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の</a:t>
            </a:r>
            <a:r>
              <a:rPr lang="en-US" altLang="ja-JP" sz="2000" b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DA</a:t>
            </a:r>
            <a:r>
              <a:rPr lang="ja-JP" altLang="en-US" sz="2000" b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の発展</a:t>
            </a:r>
            <a:endParaRPr lang="en-US" altLang="ja-JP" sz="2000" b="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>
              <a:spcAft>
                <a:spcPts val="600"/>
              </a:spcAft>
            </a:pPr>
            <a:r>
              <a:rPr lang="ja-JP" altLang="en-US" sz="2000" b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実験２は　実験経済学</a:t>
            </a:r>
            <a:r>
              <a:rPr lang="en-US" altLang="ja-JP" sz="2000" b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Topic2_4_1.pptx</a:t>
            </a:r>
            <a:r>
              <a:rPr lang="ja-JP" altLang="en-US" sz="2000" b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と実験経済学</a:t>
            </a:r>
            <a:r>
              <a:rPr lang="en-US" altLang="ja-JP" sz="2000" b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Topic2_4_2.pptx</a:t>
            </a:r>
            <a:r>
              <a:rPr lang="ja-JP" altLang="en-US" sz="2000" b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のファイナンス市場の発展</a:t>
            </a:r>
            <a:endParaRPr lang="en-US" altLang="ja-JP" sz="2000" b="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>
              <a:spcAft>
                <a:spcPts val="600"/>
              </a:spcAft>
            </a:pPr>
            <a:endParaRPr sz="1600" b="0" dirty="0">
              <a:solidFill>
                <a:srgbClr val="1A1A1A"/>
              </a:solidFill>
              <a:latin typeface="Meiryo UI"/>
            </a:endParaRPr>
          </a:p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1E406E"/>
                </a:solidFill>
                <a:latin typeface="Meiryo UI"/>
              </a:rPr>
              <a:t>実験1　private-value </a:t>
            </a:r>
            <a:r>
              <a:rPr sz="1600" b="1" dirty="0" err="1">
                <a:solidFill>
                  <a:srgbClr val="1E406E"/>
                </a:solidFill>
                <a:latin typeface="Meiryo UI"/>
              </a:rPr>
              <a:t>型の財市場</a:t>
            </a:r>
            <a:endParaRPr sz="1600" b="1" dirty="0">
              <a:solidFill>
                <a:srgbClr val="1E406E"/>
              </a:solidFill>
              <a:latin typeface="Meiryo UI"/>
            </a:endParaRPr>
          </a:p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1A1A1A"/>
                </a:solidFill>
                <a:latin typeface="Meiryo UI"/>
              </a:rPr>
              <a:t>　CDA / Call / Posted Offer </a:t>
            </a:r>
            <a:r>
              <a:rPr sz="1600" b="0" dirty="0" err="1">
                <a:solidFill>
                  <a:srgbClr val="1A1A1A"/>
                </a:solidFill>
                <a:latin typeface="Meiryo UI"/>
              </a:rPr>
              <a:t>を、同一の誘発価値のもとで比較する</a:t>
            </a:r>
            <a:r>
              <a:rPr sz="1600" b="0" dirty="0">
                <a:solidFill>
                  <a:srgbClr val="1A1A1A"/>
                </a:solidFill>
                <a:latin typeface="Meiryo UI"/>
              </a:rPr>
              <a:t>。</a:t>
            </a:r>
          </a:p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1A1A1A"/>
                </a:solidFill>
                <a:latin typeface="Meiryo UI"/>
              </a:rPr>
              <a:t>　</a:t>
            </a:r>
            <a:r>
              <a:rPr sz="1600" b="0" dirty="0" err="1">
                <a:solidFill>
                  <a:srgbClr val="1A1A1A"/>
                </a:solidFill>
                <a:latin typeface="Meiryo UI"/>
              </a:rPr>
              <a:t>完全競争均衡</a:t>
            </a:r>
            <a:r>
              <a:rPr sz="1600" b="0" dirty="0">
                <a:solidFill>
                  <a:srgbClr val="1A1A1A"/>
                </a:solidFill>
                <a:latin typeface="Meiryo UI"/>
              </a:rPr>
              <a:t> p*、</a:t>
            </a:r>
            <a:r>
              <a:rPr sz="1600" b="0" dirty="0" err="1">
                <a:solidFill>
                  <a:srgbClr val="1A1A1A"/>
                </a:solidFill>
                <a:latin typeface="Meiryo UI"/>
              </a:rPr>
              <a:t>均衡取引量</a:t>
            </a:r>
            <a:r>
              <a:rPr sz="1600" b="0" dirty="0">
                <a:solidFill>
                  <a:srgbClr val="1A1A1A"/>
                </a:solidFill>
                <a:latin typeface="Meiryo UI"/>
              </a:rPr>
              <a:t> Q*、</a:t>
            </a:r>
            <a:r>
              <a:rPr sz="1600" b="0" dirty="0" err="1">
                <a:solidFill>
                  <a:srgbClr val="1A1A1A"/>
                </a:solidFill>
                <a:latin typeface="Meiryo UI"/>
              </a:rPr>
              <a:t>最大社会余剰</a:t>
            </a:r>
            <a:r>
              <a:rPr sz="1600" b="0" dirty="0">
                <a:solidFill>
                  <a:srgbClr val="1A1A1A"/>
                </a:solidFill>
                <a:latin typeface="Meiryo UI"/>
              </a:rPr>
              <a:t> W* </a:t>
            </a:r>
            <a:r>
              <a:rPr sz="1600" b="0" dirty="0" err="1">
                <a:solidFill>
                  <a:srgbClr val="1A1A1A"/>
                </a:solidFill>
                <a:latin typeface="Meiryo UI"/>
              </a:rPr>
              <a:t>が一意に定まるので</a:t>
            </a:r>
            <a:r>
              <a:rPr sz="1600" b="0" dirty="0">
                <a:solidFill>
                  <a:srgbClr val="1A1A1A"/>
                </a:solidFill>
                <a:latin typeface="Meiryo UI"/>
              </a:rPr>
              <a:t>、</a:t>
            </a:r>
          </a:p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1A1A1A"/>
                </a:solidFill>
                <a:latin typeface="Meiryo UI"/>
              </a:rPr>
              <a:t>　「</a:t>
            </a:r>
            <a:r>
              <a:rPr sz="1600" b="0" dirty="0" err="1">
                <a:solidFill>
                  <a:srgbClr val="1A1A1A"/>
                </a:solidFill>
                <a:latin typeface="Meiryo UI"/>
              </a:rPr>
              <a:t>制度が均衡にどれだけ速く・正確に到達するか」を直接測れる</a:t>
            </a:r>
            <a:r>
              <a:rPr sz="1600" b="0" dirty="0">
                <a:solidFill>
                  <a:srgbClr val="1A1A1A"/>
                </a:solidFill>
                <a:latin typeface="Meiryo UI"/>
              </a:rPr>
              <a:t>。</a:t>
            </a:r>
          </a:p>
          <a:p>
            <a:pPr algn="l">
              <a:spcAft>
                <a:spcPts val="600"/>
              </a:spcAft>
            </a:pPr>
            <a:endParaRPr sz="1600" b="0" dirty="0">
              <a:solidFill>
                <a:srgbClr val="1A1A1A"/>
              </a:solidFill>
              <a:latin typeface="Meiryo UI"/>
            </a:endParaRPr>
          </a:p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1E406E"/>
                </a:solidFill>
                <a:latin typeface="Meiryo UI"/>
              </a:rPr>
              <a:t>実験2　common-value </a:t>
            </a:r>
            <a:r>
              <a:rPr sz="1600" b="1" dirty="0" err="1">
                <a:solidFill>
                  <a:srgbClr val="1E406E"/>
                </a:solidFill>
                <a:latin typeface="Meiryo UI"/>
              </a:rPr>
              <a:t>型の資産市場</a:t>
            </a:r>
            <a:endParaRPr sz="1600" b="1" dirty="0">
              <a:solidFill>
                <a:srgbClr val="1E406E"/>
              </a:solidFill>
              <a:latin typeface="Meiryo UI"/>
            </a:endParaRPr>
          </a:p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1A1A1A"/>
                </a:solidFill>
                <a:latin typeface="Meiryo UI"/>
              </a:rPr>
              <a:t>　Dealer が 1人か4人か、Dealer </a:t>
            </a:r>
            <a:r>
              <a:rPr sz="1600" b="0" dirty="0" err="1">
                <a:solidFill>
                  <a:srgbClr val="1A1A1A"/>
                </a:solidFill>
                <a:latin typeface="Meiryo UI"/>
              </a:rPr>
              <a:t>が情報を持つか否かを操作する</a:t>
            </a:r>
            <a:r>
              <a:rPr sz="1600" b="0" dirty="0">
                <a:solidFill>
                  <a:srgbClr val="1A1A1A"/>
                </a:solidFill>
                <a:latin typeface="Meiryo UI"/>
              </a:rPr>
              <a:t>。</a:t>
            </a:r>
          </a:p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1A1A1A"/>
                </a:solidFill>
                <a:latin typeface="Meiryo UI"/>
              </a:rPr>
              <a:t>　</a:t>
            </a:r>
            <a:r>
              <a:rPr sz="1600" b="0" dirty="0" err="1">
                <a:solidFill>
                  <a:srgbClr val="1A1A1A"/>
                </a:solidFill>
                <a:latin typeface="Meiryo UI"/>
              </a:rPr>
              <a:t>spread・inventory・dealer</a:t>
            </a:r>
            <a:r>
              <a:rPr sz="1600" b="0" dirty="0">
                <a:solidFill>
                  <a:srgbClr val="1A1A1A"/>
                </a:solidFill>
                <a:latin typeface="Meiryo UI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Meiryo UI"/>
              </a:rPr>
              <a:t>profit・情報集約という</a:t>
            </a:r>
            <a:r>
              <a:rPr sz="1600" b="0" dirty="0">
                <a:solidFill>
                  <a:srgbClr val="1A1A1A"/>
                </a:solidFill>
                <a:latin typeface="Meiryo UI"/>
              </a:rPr>
              <a:t> Dealer </a:t>
            </a:r>
            <a:r>
              <a:rPr sz="1600" b="0" dirty="0" err="1">
                <a:solidFill>
                  <a:srgbClr val="1A1A1A"/>
                </a:solidFill>
                <a:latin typeface="Meiryo UI"/>
              </a:rPr>
              <a:t>固有の性質を扱う</a:t>
            </a:r>
            <a:r>
              <a:rPr sz="1600" b="0" dirty="0">
                <a:solidFill>
                  <a:srgbClr val="1A1A1A"/>
                </a:solidFill>
                <a:latin typeface="Meiryo UI"/>
              </a:rPr>
              <a:t>。</a:t>
            </a:r>
          </a:p>
          <a:p>
            <a:pPr algn="l">
              <a:spcAft>
                <a:spcPts val="600"/>
              </a:spcAft>
            </a:pPr>
            <a:endParaRPr sz="1600" b="0" dirty="0">
              <a:solidFill>
                <a:srgbClr val="1A1A1A"/>
              </a:solidFill>
              <a:latin typeface="Meiryo UI"/>
            </a:endParaRPr>
          </a:p>
          <a:p>
            <a:pPr algn="l">
              <a:spcAft>
                <a:spcPts val="600"/>
              </a:spcAft>
            </a:pPr>
            <a:r>
              <a:rPr sz="1300" b="0" dirty="0">
                <a:solidFill>
                  <a:srgbClr val="5A5A5A"/>
                </a:solidFill>
                <a:latin typeface="Meiryo UI"/>
              </a:rPr>
              <a:t>　※ 4制度を同一実験に入れる場合は Dealer も private-value </a:t>
            </a:r>
            <a:r>
              <a:rPr sz="1300" b="0" dirty="0" err="1">
                <a:solidFill>
                  <a:srgbClr val="5A5A5A"/>
                </a:solidFill>
                <a:latin typeface="Meiryo UI"/>
              </a:rPr>
              <a:t>に合わせる必要があるが</a:t>
            </a:r>
            <a:r>
              <a:rPr sz="1300" b="0" dirty="0">
                <a:solidFill>
                  <a:srgbClr val="5A5A5A"/>
                </a:solidFill>
                <a:latin typeface="Meiryo UI"/>
              </a:rPr>
              <a:t>、</a:t>
            </a:r>
          </a:p>
          <a:p>
            <a:pPr algn="l">
              <a:spcAft>
                <a:spcPts val="600"/>
              </a:spcAft>
            </a:pPr>
            <a:r>
              <a:rPr sz="1300" b="0" dirty="0">
                <a:solidFill>
                  <a:srgbClr val="5A5A5A"/>
                </a:solidFill>
                <a:latin typeface="Meiryo UI"/>
              </a:rPr>
              <a:t>　　 </a:t>
            </a:r>
            <a:r>
              <a:rPr sz="1300" b="0" dirty="0" err="1">
                <a:solidFill>
                  <a:srgbClr val="5A5A5A"/>
                </a:solidFill>
                <a:latin typeface="Meiryo UI"/>
              </a:rPr>
              <a:t>その場合</a:t>
            </a:r>
            <a:r>
              <a:rPr sz="1300" b="0" dirty="0">
                <a:solidFill>
                  <a:srgbClr val="5A5A5A"/>
                </a:solidFill>
                <a:latin typeface="Meiryo UI"/>
              </a:rPr>
              <a:t> price discovery </a:t>
            </a:r>
            <a:r>
              <a:rPr sz="1300" b="0" dirty="0" err="1">
                <a:solidFill>
                  <a:srgbClr val="5A5A5A"/>
                </a:solidFill>
                <a:latin typeface="Meiryo UI"/>
              </a:rPr>
              <a:t>の問題がほぼ消えるため本メモでは採らない</a:t>
            </a:r>
            <a:r>
              <a:rPr sz="1300" b="0" dirty="0">
                <a:solidFill>
                  <a:srgbClr val="5A5A5A"/>
                </a:solidFill>
                <a:latin typeface="Meiryo UI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9536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Meiryo U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63656" cy="600456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406E"/>
                </a:solidFill>
                <a:latin typeface="Meiryo UI"/>
              </a:rPr>
              <a:t>共通の枠組み：何を測るのか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963656" cy="466343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Meiryo UI"/>
              </a:rPr>
              <a:t>両実験を貫く因果の道筋を1本に定める。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10963656" cy="786383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10" b="1">
                <a:solidFill>
                  <a:srgbClr val="1E406E"/>
                </a:solidFill>
                <a:latin typeface="Meiryo UI"/>
              </a:rPr>
              <a:t>Institution　→　Price discovery　→　Liquidity　→　Allocative efficiency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2880360"/>
          <a:ext cx="10963656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4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eiryo UI"/>
                        </a:rPr>
                        <a:t>段階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eiryo UI"/>
                        </a:rPr>
                        <a:t>測る量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eiryo UI"/>
                        </a:rPr>
                        <a:t>狙い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Price discovery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|p_t − p*| 、Smith の α 、|Mid_t − V|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価格が正しい水準に届くか、どれだけ速いか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Liquidity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取引量 Q_t 、Q_t/Q* 、bid–ask spread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取引がどれだけ成立するか、執行費用はいくらか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Allocative efficiency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W = Σ(v_i − c_j) 、W_realized / W_max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余剰が実際にどれだけ実現したか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074920"/>
            <a:ext cx="10963656" cy="1188719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A1A1A"/>
                </a:solidFill>
                <a:latin typeface="Meiryo UI"/>
              </a:rPr>
              <a:t>研究として最も面白いのは「価格収束は遅くても allocative efficiency は高い制度があるか」。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Meiryo UI"/>
              </a:rPr>
              <a:t>価格の正確さと社会厚生は必ずしも一致しない。両者を分けて報告する。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9536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Meiryo U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63656" cy="600456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406E"/>
                </a:solidFill>
                <a:latin typeface="Meiryo UI"/>
              </a:rPr>
              <a:t>【実験1】目的と比較する3制度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963656" cy="4846320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60" b="1">
                <a:solidFill>
                  <a:srgbClr val="1E406E"/>
                </a:solidFill>
                <a:latin typeface="Meiryo UI"/>
              </a:rPr>
              <a:t>問い</a:t>
            </a:r>
          </a:p>
          <a:p>
            <a:pPr algn="l">
              <a:spcAft>
                <a:spcPts val="600"/>
              </a:spcAft>
            </a:pPr>
            <a:r>
              <a:rPr sz="1760" b="0">
                <a:solidFill>
                  <a:srgbClr val="1A1A1A"/>
                </a:solidFill>
                <a:latin typeface="Meiryo UI"/>
              </a:rPr>
              <a:t>同一の需要・供給のもとで、取引制度を変えると価格・取引量・社会厚生はどう変わるか。</a:t>
            </a:r>
          </a:p>
          <a:p>
            <a:pPr algn="l">
              <a:spcAft>
                <a:spcPts val="600"/>
              </a:spcAft>
            </a:pPr>
            <a:endParaRPr sz="1760" b="0">
              <a:solidFill>
                <a:srgbClr val="1A1A1A"/>
              </a:solidFill>
              <a:latin typeface="Meiryo UI"/>
            </a:endParaRPr>
          </a:p>
          <a:p>
            <a:pPr algn="l">
              <a:spcAft>
                <a:spcPts val="600"/>
              </a:spcAft>
            </a:pPr>
            <a:r>
              <a:rPr sz="1760" b="1">
                <a:solidFill>
                  <a:srgbClr val="1A1A1A"/>
                </a:solidFill>
                <a:latin typeface="Meiryo UI"/>
              </a:rPr>
              <a:t>CDA（連続ダブルオークション）</a:t>
            </a:r>
          </a:p>
          <a:p>
            <a:pPr algn="l">
              <a:spcAft>
                <a:spcPts val="600"/>
              </a:spcAft>
            </a:pPr>
            <a:r>
              <a:rPr sz="1760" b="0">
                <a:solidFill>
                  <a:srgbClr val="1A1A1A"/>
                </a:solidFill>
                <a:latin typeface="Meiryo UI"/>
              </a:rPr>
              <a:t>　板（order book）方式。買い手も売り手も随時 Bid / Ask を出せる。条件が合えば即約定。</a:t>
            </a:r>
          </a:p>
          <a:p>
            <a:pPr algn="l">
              <a:spcAft>
                <a:spcPts val="600"/>
              </a:spcAft>
            </a:pPr>
            <a:endParaRPr sz="1760" b="0">
              <a:solidFill>
                <a:srgbClr val="1A1A1A"/>
              </a:solidFill>
              <a:latin typeface="Meiryo UI"/>
            </a:endParaRPr>
          </a:p>
          <a:p>
            <a:pPr algn="l">
              <a:spcAft>
                <a:spcPts val="600"/>
              </a:spcAft>
            </a:pPr>
            <a:r>
              <a:rPr sz="1760" b="1">
                <a:solidFill>
                  <a:srgbClr val="1A1A1A"/>
                </a:solidFill>
                <a:latin typeface="Meiryo UI"/>
              </a:rPr>
              <a:t>Call Market（一括約定）</a:t>
            </a:r>
          </a:p>
          <a:p>
            <a:pPr algn="l">
              <a:spcAft>
                <a:spcPts val="600"/>
              </a:spcAft>
            </a:pPr>
            <a:r>
              <a:rPr sz="1760" b="0">
                <a:solidFill>
                  <a:srgbClr val="1A1A1A"/>
                </a:solidFill>
                <a:latin typeface="Meiryo UI"/>
              </a:rPr>
              <a:t>　一定時間 注文を集め、全取引を単一の clearing price でまとめて約定させる。</a:t>
            </a:r>
          </a:p>
          <a:p>
            <a:pPr algn="l">
              <a:spcAft>
                <a:spcPts val="600"/>
              </a:spcAft>
            </a:pPr>
            <a:endParaRPr sz="1760" b="0">
              <a:solidFill>
                <a:srgbClr val="1A1A1A"/>
              </a:solidFill>
              <a:latin typeface="Meiryo UI"/>
            </a:endParaRPr>
          </a:p>
          <a:p>
            <a:pPr algn="l">
              <a:spcAft>
                <a:spcPts val="600"/>
              </a:spcAft>
            </a:pPr>
            <a:r>
              <a:rPr sz="1760" b="1">
                <a:solidFill>
                  <a:srgbClr val="1A1A1A"/>
                </a:solidFill>
                <a:latin typeface="Meiryo UI"/>
              </a:rPr>
              <a:t>Posted Offer（売り手価格提示）</a:t>
            </a:r>
          </a:p>
          <a:p>
            <a:pPr algn="l">
              <a:spcAft>
                <a:spcPts val="600"/>
              </a:spcAft>
            </a:pPr>
            <a:r>
              <a:rPr sz="1760" b="0">
                <a:solidFill>
                  <a:srgbClr val="1A1A1A"/>
                </a:solidFill>
                <a:latin typeface="Meiryo UI"/>
              </a:rPr>
              <a:t>　売り手が価格と数量を提示し、買い手は受けるか否かだけを決める。交渉はない。</a:t>
            </a:r>
          </a:p>
          <a:p>
            <a:pPr algn="l">
              <a:spcAft>
                <a:spcPts val="600"/>
              </a:spcAft>
            </a:pPr>
            <a:endParaRPr sz="1760" b="0">
              <a:solidFill>
                <a:srgbClr val="1A1A1A"/>
              </a:solidFill>
              <a:latin typeface="Meiryo UI"/>
            </a:endParaRPr>
          </a:p>
          <a:p>
            <a:pPr algn="l">
              <a:spcAft>
                <a:spcPts val="600"/>
              </a:spcAft>
            </a:pPr>
            <a:r>
              <a:rPr sz="1410" b="0">
                <a:solidFill>
                  <a:srgbClr val="5A5A5A"/>
                </a:solidFill>
                <a:latin typeface="Meiryo UI"/>
              </a:rPr>
              <a:t>　CDA と Call は買い手・売り手が対称、Posted Offer は売り手側に価格決定力がある。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9536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Meiryo U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63656" cy="600456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406E"/>
                </a:solidFill>
                <a:latin typeface="Meiryo UI"/>
              </a:rPr>
              <a:t>実験1の設定：誘発価値（3制度で完全に共通）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963656" cy="621791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60" b="0">
                <a:solidFill>
                  <a:srgbClr val="1A1A1A"/>
                </a:solidFill>
                <a:latin typeface="Meiryo UI"/>
              </a:rPr>
              <a:t>1市場 = 16人（Buyer 8人・Seller 8人）。各自2単位。2単位目は Buyer の評価値が下がり、Seller の費用が上がる。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103120"/>
          <a:ext cx="5166358" cy="3483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eiryo UI"/>
                        </a:rPr>
                        <a:t>Buyer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eiryo UI"/>
                        </a:rPr>
                        <a:t>1単位目 v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eiryo UI"/>
                        </a:rPr>
                        <a:t>2単位目 v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B1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120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104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B2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116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100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B3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112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96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B4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108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92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B5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88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72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B6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84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68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B7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80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64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B8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76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60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63640" y="2103120"/>
          <a:ext cx="5166358" cy="3483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eiryo UI"/>
                        </a:rPr>
                        <a:t>Seller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eiryo UI"/>
                        </a:rPr>
                        <a:t>1単位目 c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eiryo UI"/>
                        </a:rPr>
                        <a:t>2単位目 c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S1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40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56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S2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44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60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S3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48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64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S4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52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68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S5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72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88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S6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76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92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S7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80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96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S8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84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100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769864"/>
            <a:ext cx="10963656" cy="493776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Meiryo UI"/>
              </a:rPr>
              <a:t>この値は全制度・全期間で固定する。役割と価値の割当も被験者ごとに固定し、期を通じた学習が観察できるようにする。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9536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Meiryo U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63656" cy="600456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406E"/>
                </a:solidFill>
                <a:latin typeface="Meiryo UI"/>
              </a:rPr>
              <a:t>実験1の設定：均衡（p*・Q*・W* が一意に定まる）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963656" cy="420622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需要を高い順、供給を低い順に並べると次のようになる。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874519"/>
          <a:ext cx="10936224" cy="1444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1381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</a:rPr>
                        <a:t>単位 q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</a:rPr>
                        <a:t>1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</a:rPr>
                        <a:t>2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</a:rPr>
                        <a:t>5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</a:rPr>
                        <a:t>6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</a:rPr>
                        <a:t>7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</a:rPr>
                        <a:t>8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</a:rPr>
                        <a:t>9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</a:rPr>
                        <a:t>10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</a:rPr>
                        <a:t>11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</a:rPr>
                        <a:t>12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Meiryo UI"/>
                        </a:rPr>
                        <a:t>需要 v(q)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120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116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112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108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104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100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96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92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88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84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80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76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Meiryo UI"/>
                        </a:rPr>
                        <a:t>供給 c(q)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40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44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48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52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56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60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64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68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72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76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80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84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Meiryo UI"/>
                        </a:rPr>
                        <a:t>余剰 v−c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+80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+72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+64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+56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+48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+40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+32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+24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+16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+8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0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−8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3429000"/>
            <a:ext cx="10963656" cy="533399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1E406E"/>
                </a:solidFill>
                <a:latin typeface="Meiryo UI"/>
              </a:rPr>
              <a:t>均衡価格 p* = 80　　均衡取引量 Q* = 10　　最大社会余剰 W* = 440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389120"/>
            <a:ext cx="10963656" cy="1874519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11単位目は v = c = 80 で余剰ゼロなので、成立してもしなくても W は変わらない。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12単位目以降は成立すると余剰が負になる。</a:t>
            </a:r>
          </a:p>
          <a:p>
            <a:pPr algn="l">
              <a:spcAft>
                <a:spcPts val="600"/>
              </a:spcAft>
            </a:pPr>
            <a:endParaRPr sz="1800" b="0">
              <a:solidFill>
                <a:srgbClr val="1A1A1A"/>
              </a:solidFill>
              <a:latin typeface="Meiryo UI"/>
            </a:endParaRP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Meiryo UI"/>
              </a:rPr>
              <a:t>全員が正直に注文すると、Call Market の清算価格はちょうど p* = 80 になる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（下式の Q* = 11、p* = (80+80)/2 = 80）。3制度の比較基準として扱いやすい。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9536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Meiryo U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63656" cy="600456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406E"/>
                </a:solidFill>
                <a:latin typeface="Meiryo UI"/>
              </a:rPr>
              <a:t>制度A：CDA（連続ダブルオークション）のルール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963656" cy="5093702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dirty="0" err="1">
                <a:solidFill>
                  <a:srgbClr val="1E406E"/>
                </a:solidFill>
                <a:latin typeface="Meiryo UI"/>
              </a:rPr>
              <a:t>板（order</a:t>
            </a:r>
            <a:r>
              <a:rPr sz="2000" b="1" dirty="0">
                <a:solidFill>
                  <a:srgbClr val="1E406E"/>
                </a:solidFill>
                <a:latin typeface="Meiryo UI"/>
              </a:rPr>
              <a:t> </a:t>
            </a:r>
            <a:r>
              <a:rPr sz="2000" b="1" dirty="0" err="1">
                <a:solidFill>
                  <a:srgbClr val="1E406E"/>
                </a:solidFill>
                <a:latin typeface="Meiryo UI"/>
              </a:rPr>
              <a:t>book）方式</a:t>
            </a:r>
            <a:endParaRPr sz="2000" b="1" dirty="0">
              <a:solidFill>
                <a:srgbClr val="1E406E"/>
              </a:solidFill>
              <a:latin typeface="Meiryo UI"/>
            </a:endParaRPr>
          </a:p>
          <a:p>
            <a:pPr algn="l">
              <a:spcAft>
                <a:spcPts val="600"/>
              </a:spcAft>
            </a:pPr>
            <a:r>
              <a:rPr sz="2000" b="0" dirty="0">
                <a:solidFill>
                  <a:srgbClr val="1A1A1A"/>
                </a:solidFill>
                <a:latin typeface="Meiryo UI"/>
              </a:rPr>
              <a:t>・Buyer は Bid </a:t>
            </a:r>
            <a:r>
              <a:rPr sz="2000" b="0" dirty="0" err="1">
                <a:solidFill>
                  <a:srgbClr val="1A1A1A"/>
                </a:solidFill>
                <a:latin typeface="Meiryo UI"/>
              </a:rPr>
              <a:t>を、Seller</a:t>
            </a:r>
            <a:r>
              <a:rPr sz="2000" b="0" dirty="0">
                <a:solidFill>
                  <a:srgbClr val="1A1A1A"/>
                </a:solidFill>
                <a:latin typeface="Meiryo UI"/>
              </a:rPr>
              <a:t> は Ask </a:t>
            </a:r>
            <a:r>
              <a:rPr sz="2000" b="0" dirty="0" err="1">
                <a:solidFill>
                  <a:srgbClr val="1A1A1A"/>
                </a:solidFill>
                <a:latin typeface="Meiryo UI"/>
              </a:rPr>
              <a:t>を、取引時間中いつでも板に出せる</a:t>
            </a:r>
            <a:r>
              <a:rPr sz="2000" b="0" dirty="0">
                <a:solidFill>
                  <a:srgbClr val="1A1A1A"/>
                </a:solidFill>
                <a:latin typeface="Meiryo UI"/>
              </a:rPr>
              <a:t>。</a:t>
            </a:r>
          </a:p>
          <a:p>
            <a:pPr algn="l">
              <a:spcAft>
                <a:spcPts val="600"/>
              </a:spcAft>
            </a:pPr>
            <a:r>
              <a:rPr sz="2000" b="0" dirty="0">
                <a:solidFill>
                  <a:srgbClr val="1A1A1A"/>
                </a:solidFill>
                <a:latin typeface="Meiryo UI"/>
              </a:rPr>
              <a:t>・</a:t>
            </a:r>
            <a:r>
              <a:rPr sz="2000" b="0" dirty="0" err="1">
                <a:solidFill>
                  <a:srgbClr val="1A1A1A"/>
                </a:solidFill>
                <a:latin typeface="Meiryo UI"/>
              </a:rPr>
              <a:t>新しい買い注文は最も低い</a:t>
            </a:r>
            <a:r>
              <a:rPr sz="2000" b="0" dirty="0">
                <a:solidFill>
                  <a:srgbClr val="1A1A1A"/>
                </a:solidFill>
                <a:latin typeface="Meiryo UI"/>
              </a:rPr>
              <a:t> Ask </a:t>
            </a:r>
            <a:r>
              <a:rPr sz="2000" b="0" dirty="0" err="1">
                <a:solidFill>
                  <a:srgbClr val="1A1A1A"/>
                </a:solidFill>
                <a:latin typeface="Meiryo UI"/>
              </a:rPr>
              <a:t>から、新しい売り注文は最も高い</a:t>
            </a:r>
            <a:r>
              <a:rPr sz="2000" b="0" dirty="0">
                <a:solidFill>
                  <a:srgbClr val="1A1A1A"/>
                </a:solidFill>
                <a:latin typeface="Meiryo UI"/>
              </a:rPr>
              <a:t> Bid </a:t>
            </a:r>
            <a:r>
              <a:rPr sz="2000" b="0" dirty="0" err="1">
                <a:solidFill>
                  <a:srgbClr val="1A1A1A"/>
                </a:solidFill>
                <a:latin typeface="Meiryo UI"/>
              </a:rPr>
              <a:t>から自動的に約定する</a:t>
            </a:r>
            <a:r>
              <a:rPr sz="2000" b="0" dirty="0">
                <a:solidFill>
                  <a:srgbClr val="1A1A1A"/>
                </a:solidFill>
                <a:latin typeface="Meiryo UI"/>
              </a:rPr>
              <a:t>。</a:t>
            </a:r>
          </a:p>
          <a:p>
            <a:pPr algn="l">
              <a:spcAft>
                <a:spcPts val="600"/>
              </a:spcAft>
            </a:pPr>
            <a:r>
              <a:rPr sz="2000" b="0" dirty="0">
                <a:solidFill>
                  <a:srgbClr val="1A1A1A"/>
                </a:solidFill>
                <a:latin typeface="Meiryo UI"/>
              </a:rPr>
              <a:t>・</a:t>
            </a:r>
            <a:r>
              <a:rPr sz="2000" b="0" dirty="0" err="1">
                <a:solidFill>
                  <a:srgbClr val="1A1A1A"/>
                </a:solidFill>
                <a:latin typeface="Meiryo UI"/>
              </a:rPr>
              <a:t>同価格の注文が複数ある場合は</a:t>
            </a:r>
            <a:r>
              <a:rPr sz="2000" b="0" dirty="0">
                <a:solidFill>
                  <a:srgbClr val="1A1A1A"/>
                </a:solidFill>
                <a:latin typeface="Meiryo UI"/>
              </a:rPr>
              <a:t> time </a:t>
            </a:r>
            <a:r>
              <a:rPr sz="2000" b="0" dirty="0" err="1">
                <a:solidFill>
                  <a:srgbClr val="1A1A1A"/>
                </a:solidFill>
                <a:latin typeface="Meiryo UI"/>
              </a:rPr>
              <a:t>priority（先に出した注文が優先</a:t>
            </a:r>
            <a:r>
              <a:rPr sz="2000" b="0" dirty="0">
                <a:solidFill>
                  <a:srgbClr val="1A1A1A"/>
                </a:solidFill>
                <a:latin typeface="Meiryo UI"/>
              </a:rPr>
              <a:t>）。</a:t>
            </a:r>
          </a:p>
          <a:p>
            <a:pPr algn="l">
              <a:spcAft>
                <a:spcPts val="600"/>
              </a:spcAft>
            </a:pPr>
            <a:endParaRPr sz="2000" b="0" dirty="0">
              <a:solidFill>
                <a:srgbClr val="1A1A1A"/>
              </a:solidFill>
              <a:latin typeface="Meiryo UI"/>
            </a:endParaRPr>
          </a:p>
          <a:p>
            <a:pPr algn="l">
              <a:spcAft>
                <a:spcPts val="600"/>
              </a:spcAft>
            </a:pPr>
            <a:r>
              <a:rPr sz="2000" b="1" dirty="0" err="1">
                <a:solidFill>
                  <a:srgbClr val="1A1A1A"/>
                </a:solidFill>
                <a:latin typeface="Meiryo UI"/>
              </a:rPr>
              <a:t>約定価格は</a:t>
            </a:r>
            <a:r>
              <a:rPr sz="2000" b="1" dirty="0">
                <a:solidFill>
                  <a:srgbClr val="1A1A1A"/>
                </a:solidFill>
                <a:latin typeface="Meiryo UI"/>
              </a:rPr>
              <a:t> resting </a:t>
            </a:r>
            <a:r>
              <a:rPr sz="2000" b="1" dirty="0" err="1">
                <a:solidFill>
                  <a:srgbClr val="1A1A1A"/>
                </a:solidFill>
                <a:latin typeface="Meiryo UI"/>
              </a:rPr>
              <a:t>order（先に板にあった注文）の価格とする</a:t>
            </a:r>
            <a:endParaRPr sz="2000" b="1" dirty="0">
              <a:solidFill>
                <a:srgbClr val="1A1A1A"/>
              </a:solidFill>
              <a:latin typeface="Meiryo UI"/>
            </a:endParaRPr>
          </a:p>
          <a:p>
            <a:pPr algn="l">
              <a:spcAft>
                <a:spcPts val="600"/>
              </a:spcAft>
            </a:pPr>
            <a:r>
              <a:rPr sz="2000" b="0" dirty="0">
                <a:solidFill>
                  <a:srgbClr val="1A1A1A"/>
                </a:solidFill>
                <a:latin typeface="Meiryo UI"/>
              </a:rPr>
              <a:t>　</a:t>
            </a:r>
            <a:r>
              <a:rPr sz="2000" b="0" dirty="0" err="1">
                <a:solidFill>
                  <a:srgbClr val="1A1A1A"/>
                </a:solidFill>
                <a:latin typeface="Meiryo UI"/>
              </a:rPr>
              <a:t>例：板に</a:t>
            </a:r>
            <a:r>
              <a:rPr sz="2000" b="0" dirty="0">
                <a:solidFill>
                  <a:srgbClr val="1A1A1A"/>
                </a:solidFill>
                <a:latin typeface="Meiryo UI"/>
              </a:rPr>
              <a:t> Ask = 100 </a:t>
            </a:r>
            <a:r>
              <a:rPr sz="2000" b="0" dirty="0" err="1">
                <a:solidFill>
                  <a:srgbClr val="1A1A1A"/>
                </a:solidFill>
                <a:latin typeface="Meiryo UI"/>
              </a:rPr>
              <a:t>があるところへ買い指値</a:t>
            </a:r>
            <a:r>
              <a:rPr sz="2000" b="0" dirty="0">
                <a:solidFill>
                  <a:srgbClr val="1A1A1A"/>
                </a:solidFill>
                <a:latin typeface="Meiryo UI"/>
              </a:rPr>
              <a:t> 105 が来ると、105 ≥ 100 </a:t>
            </a:r>
            <a:r>
              <a:rPr sz="2000" b="0" dirty="0" err="1">
                <a:solidFill>
                  <a:srgbClr val="1A1A1A"/>
                </a:solidFill>
                <a:latin typeface="Meiryo UI"/>
              </a:rPr>
              <a:t>なので即約定</a:t>
            </a:r>
            <a:r>
              <a:rPr sz="2000" b="0" dirty="0">
                <a:solidFill>
                  <a:srgbClr val="1A1A1A"/>
                </a:solidFill>
                <a:latin typeface="Meiryo UI"/>
              </a:rPr>
              <a:t>。</a:t>
            </a:r>
          </a:p>
          <a:p>
            <a:pPr algn="l">
              <a:spcAft>
                <a:spcPts val="600"/>
              </a:spcAft>
            </a:pPr>
            <a:r>
              <a:rPr sz="2000" b="0" dirty="0">
                <a:solidFill>
                  <a:srgbClr val="1A1A1A"/>
                </a:solidFill>
                <a:latin typeface="Meiryo UI"/>
              </a:rPr>
              <a:t>　　　</a:t>
            </a:r>
            <a:r>
              <a:rPr sz="2000" b="0" dirty="0" err="1">
                <a:solidFill>
                  <a:srgbClr val="1A1A1A"/>
                </a:solidFill>
                <a:latin typeface="Meiryo UI"/>
              </a:rPr>
              <a:t>このとき約定価格は</a:t>
            </a:r>
            <a:r>
              <a:rPr sz="2000" b="0" dirty="0">
                <a:solidFill>
                  <a:srgbClr val="1A1A1A"/>
                </a:solidFill>
                <a:latin typeface="Meiryo UI"/>
              </a:rPr>
              <a:t> 105 </a:t>
            </a:r>
            <a:r>
              <a:rPr sz="2000" b="0" dirty="0" err="1">
                <a:solidFill>
                  <a:srgbClr val="1A1A1A"/>
                </a:solidFill>
                <a:latin typeface="Meiryo UI"/>
              </a:rPr>
              <a:t>ではなく、先に板にあった</a:t>
            </a:r>
            <a:r>
              <a:rPr sz="2000" b="0" dirty="0">
                <a:solidFill>
                  <a:srgbClr val="1A1A1A"/>
                </a:solidFill>
                <a:latin typeface="Meiryo UI"/>
              </a:rPr>
              <a:t> 100 </a:t>
            </a:r>
            <a:r>
              <a:rPr sz="2000" b="0" dirty="0" err="1">
                <a:solidFill>
                  <a:srgbClr val="1A1A1A"/>
                </a:solidFill>
                <a:latin typeface="Meiryo UI"/>
              </a:rPr>
              <a:t>とする</a:t>
            </a:r>
            <a:r>
              <a:rPr sz="2000" b="0" dirty="0">
                <a:solidFill>
                  <a:srgbClr val="1A1A1A"/>
                </a:solidFill>
                <a:latin typeface="Meiryo UI"/>
              </a:rPr>
              <a:t>。</a:t>
            </a:r>
            <a:r>
              <a:rPr lang="ja-JP" altLang="en-US" sz="2000" b="0" dirty="0">
                <a:solidFill>
                  <a:srgbClr val="1A1A1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板に複数の</a:t>
            </a:r>
            <a:r>
              <a:rPr lang="en-US" altLang="ja-JP" sz="2000" b="0" dirty="0">
                <a:solidFill>
                  <a:srgbClr val="1A1A1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order</a:t>
            </a:r>
            <a:r>
              <a:rPr lang="ja-JP" altLang="en-US" sz="2000" b="0" dirty="0">
                <a:solidFill>
                  <a:srgbClr val="1A1A1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がある場合は</a:t>
            </a:r>
            <a:r>
              <a:rPr lang="en-US" altLang="ja-JP" sz="2000" b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best price (</a:t>
            </a:r>
            <a:r>
              <a:rPr lang="ja-JP" altLang="en-US" sz="2000" b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一番安い売値</a:t>
            </a:r>
            <a:r>
              <a:rPr lang="en-US" altLang="ja-JP" sz="2000" b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r>
              <a:rPr lang="ja-JP" altLang="en-US" sz="2000" b="0" dirty="0">
                <a:solidFill>
                  <a:srgbClr val="1A1A1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から約定。</a:t>
            </a:r>
            <a:r>
              <a:rPr lang="en-US" altLang="ja-JP" sz="2000" b="0" dirty="0">
                <a:solidFill>
                  <a:srgbClr val="1A1A1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Best price</a:t>
            </a:r>
            <a:r>
              <a:rPr lang="ja-JP" altLang="en-US" sz="2000" dirty="0">
                <a:solidFill>
                  <a:srgbClr val="1A1A1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</a:t>
            </a:r>
            <a:r>
              <a:rPr lang="en-US" altLang="ja-JP" sz="2000" dirty="0">
                <a:solidFill>
                  <a:srgbClr val="1A1A1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order</a:t>
            </a:r>
            <a:r>
              <a:rPr lang="ja-JP" altLang="en-US" sz="2000" dirty="0">
                <a:solidFill>
                  <a:srgbClr val="1A1A1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が複数の場合は、古い順。</a:t>
            </a:r>
            <a:endParaRPr sz="2000" b="0" dirty="0">
              <a:solidFill>
                <a:srgbClr val="1A1A1A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Aft>
                <a:spcPts val="600"/>
              </a:spcAft>
            </a:pPr>
            <a:r>
              <a:rPr sz="2000" b="0" dirty="0">
                <a:solidFill>
                  <a:srgbClr val="1A1A1A"/>
                </a:solidFill>
                <a:latin typeface="Meiryo UI"/>
              </a:rPr>
              <a:t>　</a:t>
            </a:r>
            <a:r>
              <a:rPr sz="2000" b="0" dirty="0" err="1">
                <a:solidFill>
                  <a:srgbClr val="1A1A1A"/>
                </a:solidFill>
                <a:latin typeface="Meiryo UI"/>
              </a:rPr>
              <a:t>例：板に</a:t>
            </a:r>
            <a:r>
              <a:rPr sz="2000" b="0" dirty="0">
                <a:solidFill>
                  <a:srgbClr val="1A1A1A"/>
                </a:solidFill>
                <a:latin typeface="Meiryo UI"/>
              </a:rPr>
              <a:t> Bid = 100 </a:t>
            </a:r>
            <a:r>
              <a:rPr sz="2000" b="0" dirty="0" err="1">
                <a:solidFill>
                  <a:srgbClr val="1A1A1A"/>
                </a:solidFill>
                <a:latin typeface="Meiryo UI"/>
              </a:rPr>
              <a:t>があるところへ売り指値</a:t>
            </a:r>
            <a:r>
              <a:rPr sz="2000" b="0" dirty="0">
                <a:solidFill>
                  <a:srgbClr val="1A1A1A"/>
                </a:solidFill>
                <a:latin typeface="Meiryo UI"/>
              </a:rPr>
              <a:t> 95 </a:t>
            </a:r>
            <a:r>
              <a:rPr sz="2000" b="0" dirty="0" err="1">
                <a:solidFill>
                  <a:srgbClr val="1A1A1A"/>
                </a:solidFill>
                <a:latin typeface="Meiryo UI"/>
              </a:rPr>
              <a:t>が来た場合も、約定価格は</a:t>
            </a:r>
            <a:r>
              <a:rPr sz="2000" b="0" dirty="0">
                <a:solidFill>
                  <a:srgbClr val="1A1A1A"/>
                </a:solidFill>
                <a:latin typeface="Meiryo UI"/>
              </a:rPr>
              <a:t> 100。</a:t>
            </a:r>
            <a:r>
              <a:rPr lang="ja-JP" altLang="en-US" sz="2000" b="0" dirty="0">
                <a:solidFill>
                  <a:srgbClr val="1A1A1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板に複数の</a:t>
            </a:r>
            <a:r>
              <a:rPr lang="en-US" altLang="ja-JP" sz="2000" b="0" dirty="0">
                <a:solidFill>
                  <a:srgbClr val="1A1A1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order</a:t>
            </a:r>
            <a:r>
              <a:rPr lang="ja-JP" altLang="en-US" sz="2000" b="0" dirty="0">
                <a:solidFill>
                  <a:srgbClr val="1A1A1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がある場合は</a:t>
            </a:r>
            <a:r>
              <a:rPr lang="en-US" altLang="ja-JP" sz="2000" b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best price (</a:t>
            </a:r>
            <a:r>
              <a:rPr lang="ja-JP" altLang="en-US" sz="2000" b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一番高い買い値</a:t>
            </a:r>
            <a:r>
              <a:rPr lang="en-US" altLang="ja-JP" sz="2000" b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r>
              <a:rPr lang="ja-JP" altLang="en-US" sz="2000" b="0" dirty="0">
                <a:solidFill>
                  <a:srgbClr val="1A1A1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から約定。</a:t>
            </a:r>
            <a:r>
              <a:rPr lang="en-US" altLang="ja-JP" sz="2000" b="0" dirty="0">
                <a:solidFill>
                  <a:srgbClr val="1A1A1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Best price</a:t>
            </a:r>
            <a:r>
              <a:rPr lang="ja-JP" altLang="en-US" sz="2000" dirty="0">
                <a:solidFill>
                  <a:srgbClr val="1A1A1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</a:t>
            </a:r>
            <a:r>
              <a:rPr lang="en-US" altLang="ja-JP" sz="2000" dirty="0">
                <a:solidFill>
                  <a:srgbClr val="1A1A1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order</a:t>
            </a:r>
            <a:r>
              <a:rPr lang="ja-JP" altLang="en-US" sz="2000" dirty="0">
                <a:solidFill>
                  <a:srgbClr val="1A1A1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が複数の場合は、古い順。</a:t>
            </a:r>
            <a:endParaRPr lang="ja-JP" altLang="en-US" sz="2000" b="0" dirty="0">
              <a:solidFill>
                <a:srgbClr val="1A1A1A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>
              <a:spcAft>
                <a:spcPts val="600"/>
              </a:spcAft>
            </a:pPr>
            <a:r>
              <a:rPr lang="en-US" altLang="ja-JP" sz="2000" b="1" dirty="0">
                <a:solidFill>
                  <a:srgbClr val="FFFFFF"/>
                </a:solidFill>
                <a:latin typeface="Meiryo UI"/>
              </a:rPr>
              <a:t>V </a:t>
            </a:r>
            <a:r>
              <a:rPr lang="ja-JP" altLang="en-US" sz="2000" b="1" dirty="0">
                <a:solidFill>
                  <a:srgbClr val="FFFFFF"/>
                </a:solidFill>
                <a:latin typeface="Meiryo UI"/>
              </a:rPr>
              <a:t>の事後分布 </a:t>
            </a:r>
            <a:endParaRPr sz="2000" b="0" dirty="0">
              <a:solidFill>
                <a:srgbClr val="1A1A1A"/>
              </a:solidFill>
              <a:latin typeface="Meiryo UI"/>
            </a:endParaRPr>
          </a:p>
          <a:p>
            <a:pPr algn="l">
              <a:spcAft>
                <a:spcPts val="600"/>
              </a:spcAft>
            </a:pPr>
            <a:endParaRPr sz="2000" b="0" dirty="0">
              <a:solidFill>
                <a:srgbClr val="1A1A1A"/>
              </a:solidFill>
              <a:latin typeface="Meiryo UI"/>
            </a:endParaRPr>
          </a:p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5A5A5A"/>
                </a:solidFill>
                <a:latin typeface="Meiryo UI"/>
              </a:rPr>
              <a:t>　incoming order が resting order </a:t>
            </a:r>
            <a:r>
              <a:rPr sz="1600" b="0" dirty="0" err="1">
                <a:solidFill>
                  <a:srgbClr val="5A5A5A"/>
                </a:solidFill>
                <a:latin typeface="Meiryo UI"/>
              </a:rPr>
              <a:t>を「取りに行く」形。実際の取引所と同じ扱い</a:t>
            </a:r>
            <a:r>
              <a:rPr sz="1600" b="0" dirty="0">
                <a:solidFill>
                  <a:srgbClr val="5A5A5A"/>
                </a:solidFill>
                <a:latin typeface="Meiryo UI"/>
              </a:rPr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9536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Meiryo U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63656" cy="600456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406E"/>
                </a:solidFill>
                <a:latin typeface="Meiryo UI"/>
              </a:rPr>
              <a:t>制度B：Call Market（一括約定）のルール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963656" cy="1188720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・30秒間 注文を集める。この間 約定は起きず、板も公開しない。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・締切後、Bid を高い順 b(1) ≥ b(2) ≥ … に、Ask を低い順 a(1) ≤ a(2) ≤ … に並べる。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・成立数量と清算価格を次で定める。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88920"/>
            <a:ext cx="10963656" cy="1113536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1E406E"/>
                </a:solidFill>
                <a:latin typeface="Meiryo UI"/>
              </a:rPr>
              <a:t>Q* = max { q : b(q) ≥ a(q) }</a:t>
            </a:r>
          </a:p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1E406E"/>
                </a:solidFill>
                <a:latin typeface="Meiryo UI"/>
              </a:rPr>
              <a:t>p* = ( b(Q*) + a(Q*) ) /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60520"/>
            <a:ext cx="10963656" cy="1566672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Meiryo UI"/>
              </a:rPr>
              <a:t>成立した Q* 件すべてを、同一の清算価格 p* で約定させる。</a:t>
            </a:r>
          </a:p>
          <a:p>
            <a:pPr algn="l">
              <a:spcAft>
                <a:spcPts val="600"/>
              </a:spcAft>
            </a:pPr>
            <a:endParaRPr sz="1800" b="1">
              <a:solidFill>
                <a:srgbClr val="1A1A1A"/>
              </a:solidFill>
              <a:latin typeface="Meiryo UI"/>
            </a:endParaRP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「Bid ≥ Ask を満たす組合せのうち差が最小のもの」という言い方より、この定義のほうが明確。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Call market の実験研究でも、注文を call 時点で単一価格により一括清算するのが標準である。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9536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Meiryo UI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63656" cy="600456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406E"/>
                </a:solidFill>
                <a:latin typeface="Meiryo UI"/>
              </a:rPr>
              <a:t>制度B：Call Market の数値例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963656" cy="420623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Meiryo UI"/>
              </a:rPr>
              <a:t>注文が次のように集まったとする。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63040" y="1920240"/>
          <a:ext cx="9326880" cy="1548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7096"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eiryo UI"/>
                        </a:rPr>
                        <a:t>q = 1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eiryo UI"/>
                        </a:rPr>
                        <a:t>q = 2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eiryo UI"/>
                        </a:rPr>
                        <a:t>q = 3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eiryo UI"/>
                        </a:rPr>
                        <a:t>q = 4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Bid  b(q)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110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105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100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90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Ask  a(q)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70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85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95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115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b(q) ≥ a(q)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○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○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○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×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3703320"/>
            <a:ext cx="10963656" cy="566928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1E406E"/>
                </a:solidFill>
                <a:latin typeface="Meiryo UI"/>
              </a:rPr>
              <a:t>Q* = 3　　p* = (100 + 95) / 2 = 97.5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617720"/>
            <a:ext cx="10963656" cy="1533143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Meiryo UI"/>
              </a:rPr>
              <a:t>成立した3組すべてが 97.5 で取引する。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買い手は自分の Bid（110・105・100）ではなく 97.5 を支払い、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売り手は自分の Ask（70・85・95）ではなく 97.5 を受け取る。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Meiryo UI"/>
              </a:rPr>
              <a:t>　※ 個々の注文価格で約定させる方式にすると単一価格という Call の性質が失われる。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9536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Meiryo U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63656" cy="600456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406E"/>
                </a:solidFill>
                <a:latin typeface="Meiryo UI"/>
              </a:rPr>
              <a:t>制度C：Posted Offer（売り手価格提示）のルール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963656" cy="4370831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E406E"/>
                </a:solidFill>
                <a:latin typeface="Meiryo UI"/>
              </a:rPr>
              <a:t>手順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Meiryo UI"/>
              </a:rPr>
              <a:t>(1) Seller が各自、販売価格と販売可能数量を同時に提示する（提示後は変更不可）。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Meiryo UI"/>
              </a:rPr>
              <a:t>(2) 全 Seller の提示一覧を Buyer 全員に表示する。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Meiryo UI"/>
              </a:rPr>
              <a:t>(3) Buyer が一人ずつ順に市場へ入り、買うか買わないか、どの Seller から買うかを決める。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Meiryo UI"/>
              </a:rPr>
              <a:t>(4) 在庫が尽きた Seller の提示は一覧から消える。</a:t>
            </a:r>
          </a:p>
          <a:p>
            <a:pPr algn="l">
              <a:spcAft>
                <a:spcPts val="600"/>
              </a:spcAft>
            </a:pPr>
            <a:endParaRPr sz="2000" b="0">
              <a:solidFill>
                <a:srgbClr val="1A1A1A"/>
              </a:solidFill>
              <a:latin typeface="Meiryo UI"/>
            </a:endParaRP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E406E"/>
                </a:solidFill>
                <a:latin typeface="Meiryo UI"/>
              </a:rPr>
              <a:t>Buyer の入場順は毎期ランダムに決める（早い者勝ちにはしない）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Meiryo UI"/>
              </a:rPr>
              <a:t>　一人あたり5〜10秒の購入機会を与え、時間内に選択しなければ次の Buyer に移る。</a:t>
            </a:r>
          </a:p>
          <a:p>
            <a:pPr algn="l">
              <a:spcAft>
                <a:spcPts val="600"/>
              </a:spcAft>
            </a:pPr>
            <a:endParaRPr sz="2000" b="0">
              <a:solidFill>
                <a:srgbClr val="1A1A1A"/>
              </a:solidFill>
              <a:latin typeface="Meiryo UI"/>
            </a:endParaRP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Meiryo UI"/>
              </a:rPr>
              <a:t>　Seller は価格決定力を持つが、Buyer の需要を知らないまま価格を決める点が CDA と異なる。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9536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Meiryo U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63656" cy="600456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406E"/>
                </a:solidFill>
                <a:latin typeface="Meiryo UI"/>
              </a:rPr>
              <a:t>なぜ Posted Offer を「ランダム順」にするのか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963656" cy="877824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Meiryo UI"/>
              </a:rPr>
              <a:t>オンライン実験で先着順（first-come-first-served）にすると、観測される行動に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Meiryo UI"/>
              </a:rPr>
              <a:t>経済的意思決定以外の要素が混入する。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963656" cy="533399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1E406E"/>
                </a:solidFill>
                <a:latin typeface="Meiryo UI"/>
              </a:rPr>
              <a:t>経済的意思決定　＋　反応速度　＋　PC性能　＋　通信遅延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383280"/>
            <a:ext cx="10963656" cy="2667000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今回の目的は「市場制度の違い」を取り出すことなので、この混入は避けたい。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そこで毎期 Buyer の順番をランダム化し、一人ずつ購入機会を与える。</a:t>
            </a:r>
          </a:p>
          <a:p>
            <a:pPr algn="l">
              <a:spcAft>
                <a:spcPts val="600"/>
              </a:spcAft>
            </a:pPr>
            <a:endParaRPr sz="1800" b="0">
              <a:solidFill>
                <a:srgbClr val="1A1A1A"/>
              </a:solidFill>
              <a:latin typeface="Meiryo UI"/>
            </a:endParaRP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Meiryo UI"/>
              </a:rPr>
              <a:t>古典的な Posted-Offer 実験でも、Seller の価格提示後に Buyer をランダムな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Meiryo UI"/>
              </a:rPr>
              <a:t>順番で市場に入れる方式が用いられている。</a:t>
            </a:r>
          </a:p>
          <a:p>
            <a:pPr algn="l">
              <a:spcAft>
                <a:spcPts val="600"/>
              </a:spcAft>
            </a:pPr>
            <a:endParaRPr sz="1800" b="1">
              <a:solidFill>
                <a:srgbClr val="1A1A1A"/>
              </a:solidFill>
              <a:latin typeface="Meiryo UI"/>
            </a:endParaRP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Meiryo UI"/>
              </a:rPr>
              <a:t>　※ 同じ理由で、実験2の Dealer Market でも trader の行動順をランダム化する。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9536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Meiryo U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63656" cy="600456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406E"/>
                </a:solidFill>
                <a:latin typeface="Meiryo UI"/>
              </a:rPr>
              <a:t>3制度のルール比較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10963655" cy="3846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</a:rPr>
                        <a:t>CDA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</a:rPr>
                        <a:t>Call Market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</a:rPr>
                        <a:t>Posted Offer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Meiryo UI"/>
                        </a:rPr>
                        <a:t>価格を出せる人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Buyer と Seller の双方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Buyer と Seller の双方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Seller のみ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Meiryo UI"/>
                        </a:rPr>
                        <a:t>約定のタイミング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条件が合えば即時・連続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30秒ごとに一括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Buyer が受諾した時点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2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Meiryo UI"/>
                        </a:rPr>
                        <a:t>約定価格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resting order の価格</a:t>
                      </a:r>
                    </a:p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（取引ごとに異なる）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全取引共通の清算価格 p*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Seller の提示価格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2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Meiryo UI"/>
                        </a:rPr>
                        <a:t>情報の公開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板と約定価格を随時公開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締切まで非公開・</a:t>
                      </a:r>
                    </a:p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清算後に p* と Q* を公開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提示価格一覧を公開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Meiryo UI"/>
                        </a:rPr>
                        <a:t>順序の扱い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time priority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順序は無関係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Buyer の順番をランダム化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Meiryo UI"/>
                        </a:rPr>
                        <a:t>Buyer の行動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Bid を出す / Ask を取る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Bid を1回出す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受ける / 受けない のみ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349240"/>
            <a:ext cx="10963656" cy="432816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価格決定力の対称性が CDA → Call → Posted Offer の順に失われていく、という軸で並べている。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9536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Meiryo U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63656" cy="600456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406E"/>
                </a:solidFill>
                <a:latin typeface="Meiryo UI"/>
              </a:rPr>
              <a:t>実験1の実験計画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89888"/>
          <a:ext cx="10963656" cy="3587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6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eiryo UI"/>
                        </a:rPr>
                        <a:t>項目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eiryo UI"/>
                        </a:rPr>
                        <a:t>設計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1市場の人数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16人（Buyer 8・Seller 8、各2単位）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市場数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12市場（合計 192人）　※ オンラインで並行実施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期間数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3制度 × 5期間 = 15期間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制度の割当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市場内 within で3制度すべてを実施。順序はラテン方格でカウンターバランス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誘発価値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全制度・全期間で同一（p* = 80、Q* = 10、W* = 440）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1期の長さ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CDA 180秒 / Call 30秒×4回 / Posted Offer 提示60秒＋購入フェーズ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分析単位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市場（market）。市場内の期間は繰り返し測定として扱う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120640"/>
            <a:ext cx="10963656" cy="1143000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E406E"/>
                </a:solidFill>
                <a:latin typeface="Meiryo UI"/>
              </a:rPr>
              <a:t>順序効果への対処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制度の提示順は6通りあるので、12市場を各順序2市場ずつに割り当てる。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分析では「制度」と「実施順」を同時に入れ、制度効果を実施順から分離する。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9536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Meiryo U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63656" cy="600456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406E"/>
                </a:solidFill>
                <a:latin typeface="Meiryo UI"/>
              </a:rPr>
              <a:t>実験1の手順（1期間の流れ）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963656" cy="4892040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80" b="1">
                <a:solidFill>
                  <a:srgbClr val="1E406E"/>
                </a:solidFill>
                <a:latin typeface="Meiryo UI"/>
              </a:rPr>
              <a:t>(1) 期の開始</a:t>
            </a:r>
          </a:p>
          <a:p>
            <a:pPr algn="l">
              <a:spcAft>
                <a:spcPts val="600"/>
              </a:spcAft>
            </a:pPr>
            <a:r>
              <a:rPr sz="1580" b="0">
                <a:solidFill>
                  <a:srgbClr val="1A1A1A"/>
                </a:solidFill>
                <a:latin typeface="Meiryo UI"/>
              </a:rPr>
              <a:t>　各被験者に自分の役割と単位ごとの評価値／費用を表示する。他人の値は見えない。</a:t>
            </a:r>
          </a:p>
          <a:p>
            <a:pPr algn="l">
              <a:spcAft>
                <a:spcPts val="600"/>
              </a:spcAft>
            </a:pPr>
            <a:endParaRPr sz="1580" b="0">
              <a:solidFill>
                <a:srgbClr val="1A1A1A"/>
              </a:solidFill>
              <a:latin typeface="Meiryo UI"/>
            </a:endParaRPr>
          </a:p>
          <a:p>
            <a:pPr algn="l">
              <a:spcAft>
                <a:spcPts val="600"/>
              </a:spcAft>
            </a:pPr>
            <a:r>
              <a:rPr sz="1580" b="1">
                <a:solidFill>
                  <a:srgbClr val="1E406E"/>
                </a:solidFill>
                <a:latin typeface="Meiryo UI"/>
              </a:rPr>
              <a:t>(2) 取引フェーズ（制度ごとに異なる）</a:t>
            </a:r>
          </a:p>
          <a:p>
            <a:pPr algn="l">
              <a:spcAft>
                <a:spcPts val="600"/>
              </a:spcAft>
            </a:pPr>
            <a:r>
              <a:rPr sz="1580" b="0">
                <a:solidFill>
                  <a:srgbClr val="1A1A1A"/>
                </a:solidFill>
                <a:latin typeface="Meiryo UI"/>
              </a:rPr>
              <a:t>　CDA　　　　　 板を全員に表示し、180秒間 自由に注文・約定させる。</a:t>
            </a:r>
          </a:p>
          <a:p>
            <a:pPr algn="l">
              <a:spcAft>
                <a:spcPts val="600"/>
              </a:spcAft>
            </a:pPr>
            <a:r>
              <a:rPr sz="1580" b="0">
                <a:solidFill>
                  <a:srgbClr val="1A1A1A"/>
                </a:solidFill>
                <a:latin typeface="Meiryo UI"/>
              </a:rPr>
              <a:t>　Call　　　　　 30秒の注文受付を4回。各回の締切後に p* と Q* を表示する。</a:t>
            </a:r>
          </a:p>
          <a:p>
            <a:pPr algn="l">
              <a:spcAft>
                <a:spcPts val="600"/>
              </a:spcAft>
            </a:pPr>
            <a:r>
              <a:rPr sz="1580" b="0">
                <a:solidFill>
                  <a:srgbClr val="1A1A1A"/>
                </a:solidFill>
                <a:latin typeface="Meiryo UI"/>
              </a:rPr>
              <a:t>　Posted Offer　Seller が60秒で価格と数量を提示 → Buyer がランダム順に購入機会を得る。</a:t>
            </a:r>
          </a:p>
          <a:p>
            <a:pPr algn="l">
              <a:spcAft>
                <a:spcPts val="600"/>
              </a:spcAft>
            </a:pPr>
            <a:endParaRPr sz="1580" b="0">
              <a:solidFill>
                <a:srgbClr val="1A1A1A"/>
              </a:solidFill>
              <a:latin typeface="Meiryo UI"/>
            </a:endParaRPr>
          </a:p>
          <a:p>
            <a:pPr algn="l">
              <a:spcAft>
                <a:spcPts val="600"/>
              </a:spcAft>
            </a:pPr>
            <a:r>
              <a:rPr sz="1580" b="1">
                <a:solidFill>
                  <a:srgbClr val="1E406E"/>
                </a:solidFill>
                <a:latin typeface="Meiryo UI"/>
              </a:rPr>
              <a:t>(3) 期の終了</a:t>
            </a:r>
          </a:p>
          <a:p>
            <a:pPr algn="l">
              <a:spcAft>
                <a:spcPts val="600"/>
              </a:spcAft>
            </a:pPr>
            <a:r>
              <a:rPr sz="1580" b="0">
                <a:solidFill>
                  <a:srgbClr val="1A1A1A"/>
                </a:solidFill>
                <a:latin typeface="Meiryo UI"/>
              </a:rPr>
              <a:t>　各自の利得を表示する。Buyer は v − p、Seller は p − c、取引がなければ 0。</a:t>
            </a:r>
          </a:p>
          <a:p>
            <a:pPr algn="l">
              <a:spcAft>
                <a:spcPts val="600"/>
              </a:spcAft>
            </a:pPr>
            <a:r>
              <a:rPr sz="1580" b="0">
                <a:solidFill>
                  <a:srgbClr val="1A1A1A"/>
                </a:solidFill>
                <a:latin typeface="Meiryo UI"/>
              </a:rPr>
              <a:t>　全期間の累積利得が最終的な報酬となる。</a:t>
            </a:r>
          </a:p>
          <a:p>
            <a:pPr algn="l">
              <a:spcAft>
                <a:spcPts val="600"/>
              </a:spcAft>
            </a:pPr>
            <a:endParaRPr sz="1580" b="0">
              <a:solidFill>
                <a:srgbClr val="1A1A1A"/>
              </a:solidFill>
              <a:latin typeface="Meiryo UI"/>
            </a:endParaRPr>
          </a:p>
          <a:p>
            <a:pPr algn="l">
              <a:spcAft>
                <a:spcPts val="600"/>
              </a:spcAft>
            </a:pPr>
            <a:r>
              <a:rPr sz="1580" b="1">
                <a:solidFill>
                  <a:srgbClr val="1E406E"/>
                </a:solidFill>
                <a:latin typeface="Meiryo UI"/>
              </a:rPr>
              <a:t>(4) 情報のフィードバック</a:t>
            </a:r>
          </a:p>
          <a:p>
            <a:pPr algn="l">
              <a:spcAft>
                <a:spcPts val="600"/>
              </a:spcAft>
            </a:pPr>
            <a:r>
              <a:rPr sz="1580" b="0">
                <a:solidFill>
                  <a:srgbClr val="1A1A1A"/>
                </a:solidFill>
                <a:latin typeface="Meiryo UI"/>
              </a:rPr>
              <a:t>　全期間を通じて、過去の約定価格の系列を全員に表示し続ける（収束の観察のため）。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9536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Meiryo U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63656" cy="600456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406E"/>
                </a:solidFill>
                <a:latin typeface="Meiryo UI"/>
              </a:rPr>
              <a:t>成果変数①　価格と収束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963656" cy="466344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Meiryo UI"/>
              </a:rPr>
              <a:t>制度がどれだけ正確に、どれだけ速く均衡価格に到達するかを測る。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148840"/>
          <a:ext cx="1096365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1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指標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定義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読み方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価格の乖離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| p_t − p* |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期 t の約定価格が均衡からどれだけ離れているか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Smith の α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α = (1/p*) × √( (1/n) Σ (p_i − p*)² 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期内の価格のばらつきを均衡価格で基準化したもの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収束速度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α を期 t に回帰した傾き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期を追うごとに均衡へ近づく速さ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spread（CDA のみ）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Ask − Bid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板の最良気配の幅＝執行費用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892040"/>
            <a:ext cx="10963656" cy="810768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Call Market では約定価格が期内で1つ（清算価格）なので α は期間間の比較に用いる。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CDA と Posted Offer では期内に複数の約定価格が出るので、期内のばらつきも測れる。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9536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Meiryo UI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63656" cy="600456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406E"/>
                </a:solidFill>
                <a:latin typeface="Meiryo UI"/>
              </a:rPr>
              <a:t>成果変数②　取引量と社会厚生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10963656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1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指標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定義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読み方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取引量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Q_t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期 t に成立した取引の数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取引量比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Q_t / Q*　（Q* = 10）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均衡取引量のどれだけを達成したか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実現社会厚生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W = Σ (v_i − c_j)　（成立した取引について）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実際に生み出された総余剰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効率性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Efficiency = W_realized / W_max　（W_max = 440）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達成可能な余剰のうち何割を実現したか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取引の質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非効率取引の件数（v_i &lt; c_j の成立）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本来成立すべきでない取引が起きていないか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663440"/>
            <a:ext cx="10963656" cy="1188720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Meiryo UI"/>
              </a:rPr>
              <a:t>効率性は制度間比較の中心指標とする。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取引量が同じでも、誰と誰が取引したかによって W は変わる。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評価値の高い Buyer と費用の低い Seller が取引できている制度ほど効率が高い。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9536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Meiryo UI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63656" cy="600456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406E"/>
                </a:solidFill>
                <a:latin typeface="Meiryo UI"/>
              </a:rPr>
              <a:t>注意：社会厚生は「取引量 × 価格」ではない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963656" cy="466344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Meiryo UI"/>
              </a:rPr>
              <a:t>Buyer の評価値が v_i、Seller の費用が c_j、取引価格が p のとき、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0963656" cy="1080008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0">
                <a:solidFill>
                  <a:srgbClr val="1A1A1A"/>
                </a:solidFill>
                <a:latin typeface="Meiryo UI"/>
              </a:rPr>
              <a:t>消費者余剰　CS = v_i − p　　　　生産者余剰　PS = p − c_j</a:t>
            </a:r>
          </a:p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1E406E"/>
                </a:solidFill>
                <a:latin typeface="Meiryo UI"/>
              </a:rPr>
              <a:t>CS + PS = ( v_i − p ) + ( p − c_j ) = v_i − c_j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520440"/>
            <a:ext cx="10963656" cy="2743199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40" b="1">
                <a:solidFill>
                  <a:srgbClr val="1A1A1A"/>
                </a:solidFill>
                <a:latin typeface="Meiryo UI"/>
              </a:rPr>
              <a:t>価格 p は消えてしまう。</a:t>
            </a:r>
          </a:p>
          <a:p>
            <a:pPr algn="l">
              <a:spcAft>
                <a:spcPts val="600"/>
              </a:spcAft>
            </a:pPr>
            <a:endParaRPr sz="1440" b="1">
              <a:solidFill>
                <a:srgbClr val="1A1A1A"/>
              </a:solidFill>
              <a:latin typeface="Meiryo UI"/>
            </a:endParaRPr>
          </a:p>
          <a:p>
            <a:pPr algn="l">
              <a:spcAft>
                <a:spcPts val="600"/>
              </a:spcAft>
            </a:pPr>
            <a:r>
              <a:rPr sz="1440" b="0">
                <a:solidFill>
                  <a:srgbClr val="1A1A1A"/>
                </a:solidFill>
                <a:latin typeface="Meiryo UI"/>
              </a:rPr>
              <a:t>つまり価格は、Buyer と Seller の間で余剰をどう分けるかには影響するが、</a:t>
            </a:r>
          </a:p>
          <a:p>
            <a:pPr algn="l">
              <a:spcAft>
                <a:spcPts val="600"/>
              </a:spcAft>
            </a:pPr>
            <a:r>
              <a:rPr sz="1440" b="0">
                <a:solidFill>
                  <a:srgbClr val="1A1A1A"/>
                </a:solidFill>
                <a:latin typeface="Meiryo UI"/>
              </a:rPr>
              <a:t>取引自体が成立している限り、総余剰には直接影響しない。</a:t>
            </a:r>
          </a:p>
          <a:p>
            <a:pPr algn="l">
              <a:spcAft>
                <a:spcPts val="600"/>
              </a:spcAft>
            </a:pPr>
            <a:endParaRPr sz="1440" b="0">
              <a:solidFill>
                <a:srgbClr val="1A1A1A"/>
              </a:solidFill>
              <a:latin typeface="Meiryo UI"/>
            </a:endParaRPr>
          </a:p>
          <a:p>
            <a:pPr algn="ctr">
              <a:spcAft>
                <a:spcPts val="600"/>
              </a:spcAft>
            </a:pPr>
            <a:r>
              <a:rPr sz="1760" b="1">
                <a:solidFill>
                  <a:srgbClr val="1E406E"/>
                </a:solidFill>
                <a:latin typeface="Meiryo UI"/>
              </a:rPr>
              <a:t>W = Σ (v_i − c_j)　（成立した取引について和をとる）</a:t>
            </a:r>
          </a:p>
          <a:p>
            <a:pPr algn="l">
              <a:spcAft>
                <a:spcPts val="600"/>
              </a:spcAft>
            </a:pPr>
            <a:endParaRPr sz="1760" b="1">
              <a:solidFill>
                <a:srgbClr val="1E406E"/>
              </a:solidFill>
              <a:latin typeface="Meiryo UI"/>
            </a:endParaRPr>
          </a:p>
          <a:p>
            <a:pPr algn="l">
              <a:spcAft>
                <a:spcPts val="600"/>
              </a:spcAft>
            </a:pPr>
            <a:r>
              <a:rPr sz="1440" b="0">
                <a:solidFill>
                  <a:srgbClr val="1A1A1A"/>
                </a:solidFill>
                <a:latin typeface="Meiryo UI"/>
              </a:rPr>
              <a:t>したがって制度比較では W_realized / W_max を見るのが標準である。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9536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Meiryo UI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63656" cy="600456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406E"/>
                </a:solidFill>
                <a:latin typeface="Meiryo UI"/>
              </a:rPr>
              <a:t>実験1の予測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10963656" cy="3035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83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CDA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Call Market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Posted Offer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価格の収束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速い</a:t>
                      </a:r>
                    </a:p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期内でも p* に接近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期ごとに p* に接近</a:t>
                      </a:r>
                    </a:p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期内の分散は定義上ゼロ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遅い</a:t>
                      </a:r>
                    </a:p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上方に偏りやすい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取引量 Q/Q*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高い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高い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低め（売れ残りが出る）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効率性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高い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高い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中程度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余剰の分配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ほぼ対称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ほぼ対称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Seller 側に偏る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663440"/>
            <a:ext cx="10963656" cy="1566672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E406E"/>
                </a:solidFill>
                <a:latin typeface="Meiryo UI"/>
              </a:rPr>
              <a:t>検証したい仮説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H1　CDA と Call は効率性でほぼ差がないが、価格のばらつきは Call のほうが小さい。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H2　Posted Offer は効率性が有意に低く、その損失は売れ残り（Q の不足）から生じる。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H3　いずれの制度でも、期を追うごとに効率性が上昇する（学習）。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9536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Meiryo UI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63656" cy="600456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406E"/>
                </a:solidFill>
                <a:latin typeface="Meiryo UI"/>
              </a:rPr>
              <a:t>【実験2】なぜ Dealer Market を分けるのか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10963656" cy="2578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実験1（CDA / Call / Posted Offer）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実験2（Dealer Market）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財の性質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private value：価値は人によって異なる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common value：価値は全員に共通だが不確実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価値の与え方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Buyer に v_i、Seller に c_j を直接与える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資産の最終価値 V を抽選で決める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価格を出す人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取引参加者自身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Dealer（market maker）のみ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中心的な問い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制度は均衡に到達するか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競争と情報の非対称性が spread をどう動かすか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343400"/>
            <a:ext cx="10963656" cy="1155192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Dealer Market の古典的実験は、将来価値が不確実な金融資産を売買する形を取る。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Meiryo UI"/>
              </a:rPr>
              <a:t>Dealer の本来の仕事は、order flow を見て価値を学習し Bid / Ask を更新すること。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Meiryo UI"/>
              </a:rPr>
              <a:t>　※ 最初から真の価値 V を教えると price discovery の問題が消えてしまう。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9536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Meiryo UI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63656" cy="600456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406E"/>
                </a:solidFill>
                <a:latin typeface="Meiryo UI"/>
              </a:rPr>
              <a:t>実験2の設定：資産と参加者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963656" cy="393190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資産の最終価値 V は各期の初めに次の3つから等確率で抽選される。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963656" cy="1060705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300" b="1">
                <a:solidFill>
                  <a:srgbClr val="1E406E"/>
                </a:solidFill>
                <a:latin typeface="Meiryo UI"/>
              </a:rPr>
              <a:t>V ∈ { 100 , 300 , 500 }　　P(V = 100) = P(V = 300) = P(V = 500) = 1/3</a:t>
            </a:r>
          </a:p>
          <a:p>
            <a:pPr algn="ctr">
              <a:spcAft>
                <a:spcPts val="800"/>
              </a:spcAft>
            </a:pPr>
            <a:r>
              <a:rPr sz="1920" b="0">
                <a:solidFill>
                  <a:srgbClr val="1A1A1A"/>
                </a:solidFill>
                <a:latin typeface="Meiryo UI"/>
              </a:rPr>
              <a:t>事前期待値　E[V] = 300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3063240"/>
          <a:ext cx="10963656" cy="213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5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役割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人数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情報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できること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Dealer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1人 または 4人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prior のみ（uninformed）</a:t>
                      </a:r>
                    </a:p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または signal あり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Bid と Ask を提示・随時更新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informed trader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4人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不完全な signal s_i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受ける / 受けない のみ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uninformed trader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8人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prior のみ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受ける / 受けない のみ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257800"/>
            <a:ext cx="10963656" cy="810768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quote を出せるのは Dealer だけである。trader は Bid / Ask を提示できず、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Dealer が出した quote を受けるか否かを決めるだけ。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9536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Meiryo UI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63656" cy="600456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406E"/>
                </a:solidFill>
                <a:latin typeface="Meiryo UI"/>
              </a:rPr>
              <a:t>実験2の情報構造：signal と事後期待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963656" cy="393190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informed trader は真の V について、次の精度の signal s を1つ受け取る。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963656" cy="499871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1E406E"/>
                </a:solidFill>
                <a:latin typeface="Meiryo UI"/>
              </a:rPr>
              <a:t>P( s = V ) = 0.6　　　P( s = 他の各値 ) = 0.2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60320"/>
            <a:ext cx="10963656" cy="432816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事前分布が一様なので、signal を見た後の期待値は次のようになる。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194560" y="3127248"/>
          <a:ext cx="7863840" cy="1816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eiryo UI"/>
                        </a:rPr>
                        <a:t>受け取った signal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eiryo UI"/>
                        </a:rPr>
                        <a:t>V の事後分布 (100/300/500)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eiryo UI"/>
                        </a:rPr>
                        <a:t>事後期待値 E[V | s]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s = 100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0.6 / 0.2 / 0.2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220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s = 300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0.2 / 0.6 / 0.2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300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s = 500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0.2 / 0.2 / 0.6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380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5126736"/>
            <a:ext cx="10963656" cy="1136903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eiryo UI"/>
              </a:rPr>
              <a:t>uninformed trader と uninformed dealer は prior のみなので E[V] = 300 のまま。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Meiryo UI"/>
              </a:rPr>
              <a:t>この「情報を持つ者と持たない者の差」が、次のスライドの逆選択を生む。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eiryo UI"/>
              </a:rPr>
              <a:t>　※ uninformed trader には毎期ランダムに流動性ショック（在庫を±2単位調整する義務）を与え、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eiryo UI"/>
              </a:rPr>
              <a:t>　　 情報に基づかない注文が一定量流れるようにする。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9536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Meiryo UI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63656" cy="600456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406E"/>
                </a:solidFill>
                <a:latin typeface="Meiryo UI"/>
              </a:rPr>
              <a:t>補足）事後分布 P(V | s) の計算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963656" cy="402335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事前分布は一様、signal は 0.6 の確率で真の値と一致する。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828800"/>
          <a:ext cx="50749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真の V ＼ s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s=100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s=300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s=500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V = 100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0.6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0.2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0.2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V = 300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0.2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0.6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0.2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V = 500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0.2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0.2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0.6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3611880"/>
            <a:ext cx="5074920" cy="1700784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60" b="1">
                <a:solidFill>
                  <a:srgbClr val="1E406E"/>
                </a:solidFill>
                <a:latin typeface="Meiryo UI"/>
              </a:rPr>
              <a:t>事前分布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eiryo UI"/>
              </a:rPr>
              <a:t>　P(V=100) = P(V=300) = P(V=500) = 1/3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1A1A1A"/>
              </a:solidFill>
              <a:latin typeface="Meiryo UI"/>
            </a:endParaRPr>
          </a:p>
          <a:p>
            <a:pPr algn="l">
              <a:spcAft>
                <a:spcPts val="300"/>
              </a:spcAft>
            </a:pPr>
            <a:r>
              <a:rPr sz="1360" b="1">
                <a:solidFill>
                  <a:srgbClr val="1E406E"/>
                </a:solidFill>
                <a:latin typeface="Meiryo UI"/>
              </a:rPr>
              <a:t>ベイズの公式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eiryo UI"/>
              </a:rPr>
              <a:t>　P(V=v | s) =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eiryo UI"/>
              </a:rPr>
              <a:t>　　　P(s|V=v) P(V=v) ÷ Σ_w P(s|V=w) P(V=w)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828800"/>
            <a:ext cx="5340096" cy="3483864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40" b="1">
                <a:solidFill>
                  <a:srgbClr val="1E406E"/>
                </a:solidFill>
                <a:latin typeface="Meiryo UI"/>
              </a:rPr>
              <a:t>s = 500 を受け取った場合</a:t>
            </a:r>
          </a:p>
          <a:p>
            <a:pPr algn="l">
              <a:spcAft>
                <a:spcPts val="300"/>
              </a:spcAft>
            </a:pPr>
            <a:endParaRPr sz="1440" b="1">
              <a:solidFill>
                <a:srgbClr val="1E406E"/>
              </a:solidFill>
              <a:latin typeface="Meiryo UI"/>
            </a:endParaRP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A1A1A"/>
                </a:solidFill>
                <a:latin typeface="Meiryo UI"/>
              </a:rPr>
              <a:t>① 分子（同時確率）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eiryo UI"/>
              </a:rPr>
              <a:t>　P(V=500, s=500) = (1/3)(0.6) = 1/5 ≒ 0.200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eiryo UI"/>
              </a:rPr>
              <a:t>　P(V=300, s=500) = P(V=100, s=500) = (1/3)(0.2) = 1/15 ≒ 0.067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1A1A1A"/>
              </a:solidFill>
              <a:latin typeface="Meiryo UI"/>
            </a:endParaRP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A1A1A"/>
                </a:solidFill>
                <a:latin typeface="Meiryo UI"/>
              </a:rPr>
              <a:t>② 分母　P(s=500) = 1/5 + 1/15 + 1/15 = 1/3</a:t>
            </a:r>
          </a:p>
          <a:p>
            <a:pPr algn="l">
              <a:spcAft>
                <a:spcPts val="300"/>
              </a:spcAft>
            </a:pPr>
            <a:endParaRPr sz="1300" b="1">
              <a:solidFill>
                <a:srgbClr val="1A1A1A"/>
              </a:solidFill>
              <a:latin typeface="Meiryo UI"/>
            </a:endParaRP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A1A1A"/>
                </a:solidFill>
                <a:latin typeface="Meiryo UI"/>
              </a:rPr>
              <a:t>③ 割り算 ＝ 事後分布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eiryo UI"/>
              </a:rPr>
              <a:t>　P(V=500 | s=500) = (1/5) ÷ (1/3) = 0.6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eiryo UI"/>
              </a:rPr>
              <a:t>　P(V=300 | s=500) = P(V=100 | s=500) = (1/15) ÷ (1/3) = 0.2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440680"/>
            <a:ext cx="10963656" cy="822959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30" b="0">
                <a:solidFill>
                  <a:srgbClr val="1A1A1A"/>
                </a:solidFill>
                <a:latin typeface="Meiryo UI"/>
              </a:rPr>
              <a:t>事後分布が尤度と同じ数字になるのは、事前分布が一様で、かつ尤度行列の列和が 1 だから。どちらかが崩れれば一致しない。</a:t>
            </a:r>
          </a:p>
          <a:p>
            <a:pPr algn="l">
              <a:spcAft>
                <a:spcPts val="400"/>
              </a:spcAft>
            </a:pPr>
            <a:r>
              <a:rPr sz="1430" b="1">
                <a:solidFill>
                  <a:srgbClr val="1E406E"/>
                </a:solidFill>
                <a:latin typeface="Meiryo UI"/>
              </a:rPr>
              <a:t>検算　E[ E[V|s] ] = (1/3)(220 + 300 + 380) = 300 = E[V]　（繰り返し期待値の法則）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9536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Meiryo UI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63656" cy="600456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406E"/>
                </a:solidFill>
                <a:latin typeface="Meiryo UI"/>
              </a:rPr>
              <a:t>逆選択のメカニズム（数値例）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963656" cy="393190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uninformed な Dealer が E[V] = 300 を中心に次の quote を出したとする。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963656" cy="533399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1E406E"/>
                </a:solidFill>
                <a:latin typeface="Meiryo UI"/>
              </a:rPr>
              <a:t>Bid = 260　　Ask = 340　　（spread = 80）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2606040"/>
          <a:ext cx="10963656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6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取引相手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その人の E[V]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とる行動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Dealer の損益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s = 500 の informed trader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380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340 で買う（Ask を取る）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340 − 380 = −40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s = 100 の informed trader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220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260 で売る（Bid を取る）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220 − 260 = −40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uninformed / 流動性 trader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300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どちらもありうる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＋40（期待値）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434840"/>
            <a:ext cx="10963656" cy="1828800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80" b="0">
                <a:solidFill>
                  <a:srgbClr val="1A1A1A"/>
                </a:solidFill>
                <a:latin typeface="Meiryo UI"/>
              </a:rPr>
              <a:t>Dealer から見ると「買われた ⇒ V が高い可能性」「売られた ⇒ V が低い可能性」。</a:t>
            </a:r>
          </a:p>
          <a:p>
            <a:pPr algn="l">
              <a:spcAft>
                <a:spcPts val="600"/>
              </a:spcAft>
            </a:pPr>
            <a:r>
              <a:rPr sz="1580" b="1">
                <a:solidFill>
                  <a:srgbClr val="1A1A1A"/>
                </a:solidFill>
                <a:latin typeface="Meiryo UI"/>
              </a:rPr>
              <a:t>つまり自分に不利なときほど取引されやすい。これが adverse selection である。</a:t>
            </a:r>
          </a:p>
          <a:p>
            <a:pPr algn="l">
              <a:spcAft>
                <a:spcPts val="600"/>
              </a:spcAft>
            </a:pPr>
            <a:endParaRPr sz="1580" b="1">
              <a:solidFill>
                <a:srgbClr val="1A1A1A"/>
              </a:solidFill>
              <a:latin typeface="Meiryo UI"/>
            </a:endParaRPr>
          </a:p>
          <a:p>
            <a:pPr algn="l">
              <a:spcAft>
                <a:spcPts val="600"/>
              </a:spcAft>
            </a:pPr>
            <a:r>
              <a:rPr sz="1580" b="0">
                <a:solidFill>
                  <a:srgbClr val="1A1A1A"/>
                </a:solidFill>
                <a:latin typeface="Meiryo UI"/>
              </a:rPr>
              <a:t>informed flow だけを相手にして損をしないためには Ask ≥ 380、Bid ≤ 220、</a:t>
            </a:r>
          </a:p>
          <a:p>
            <a:pPr algn="l">
              <a:spcAft>
                <a:spcPts val="600"/>
              </a:spcAft>
            </a:pPr>
            <a:r>
              <a:rPr sz="1580" b="0">
                <a:solidFill>
                  <a:srgbClr val="1A1A1A"/>
                </a:solidFill>
                <a:latin typeface="Meiryo UI"/>
              </a:rPr>
              <a:t>すなわち spread ≥ 160 が必要になる。Dealer は spread を広げて保険をかける。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9536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Meiryo UI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63656" cy="600456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406E"/>
                </a:solidFill>
                <a:latin typeface="Meiryo UI"/>
              </a:rPr>
              <a:t>実験2の処置：競争効果と逆選択効果を分離する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10963656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39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eiryo UI"/>
                        </a:rPr>
                        <a:t>処置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eiryo UI"/>
                        </a:rPr>
                        <a:t>Dealer 数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eiryo UI"/>
                        </a:rPr>
                        <a:t>Dealer の情報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eiryo UI"/>
                        </a:rPr>
                        <a:t>取り出せるもの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1D0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1人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uninformed（prior のみ）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独占 Dealer ＋ 逆選択あり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4D0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4人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4人とも uninformed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1D0 との差 ＝ 競争効果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4D4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4人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4人とも informed（signal あり）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4D0 との差 ＝ 逆選択効果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703320"/>
            <a:ext cx="10963656" cy="2356104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E406E"/>
                </a:solidFill>
                <a:latin typeface="Meiryo UI"/>
              </a:rPr>
              <a:t>1D0 → 4D0　：　情報を固定したまま人数だけ変える　⇒　競争効果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E406E"/>
                </a:solidFill>
                <a:latin typeface="Meiryo UI"/>
              </a:rPr>
              <a:t>4D0 → 4D4　：　人数を固定したまま情報だけ変える　⇒　逆選択効果</a:t>
            </a:r>
          </a:p>
          <a:p>
            <a:pPr algn="l">
              <a:spcAft>
                <a:spcPts val="600"/>
              </a:spcAft>
            </a:pPr>
            <a:endParaRPr sz="1900" b="1">
              <a:solidFill>
                <a:srgbClr val="1E406E"/>
              </a:solidFill>
              <a:latin typeface="Meiryo UI"/>
            </a:endParaRP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trader 側の構成（informed 4人・uninformed 8人）は3処置すべてで同一にする。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4Dealer のとき trader が受けられるのは最良気配（最高 Bid・最低 Ask）。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同値はランダム割当とし、trader の行動順も毎ラウンドランダム化する。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9536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Meiryo UI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63656" cy="600456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406E"/>
                </a:solidFill>
                <a:latin typeface="Meiryo UI"/>
              </a:rPr>
              <a:t>実験2の初期保有：総資金・総在庫を揃える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963656" cy="810768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Dealer は売り手が来れば買い取り、買い手が来れば在庫から売る必要があるので、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通常の trader より多くの現金と在庫を持たせる。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331720"/>
          <a:ext cx="10963656" cy="1758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7096"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eiryo UI"/>
                        </a:rPr>
                        <a:t>1人あたり 現金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eiryo UI"/>
                        </a:rPr>
                        <a:t>1人あたり 在庫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eiryo UI"/>
                        </a:rPr>
                        <a:t>処置内の合計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trader（12人）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3,000 MU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6 株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36,000 MU / 72 株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Dealer（1D0）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24,000 MU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48 株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24,000 MU / 48 株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Meiryo UI"/>
                        </a:rPr>
                        <a:t>Dealer（4D0・4D4）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6,000 MU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12 株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Meiryo UI"/>
                        </a:rPr>
                        <a:t>24,000 MU / 48 株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343400"/>
            <a:ext cx="10963656" cy="1549908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E406E"/>
                </a:solidFill>
                <a:latin typeface="Meiryo UI"/>
              </a:rPr>
              <a:t>1 Dealer と 4 Dealers で Dealer 側の総資金・総在庫を一致させる。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そうしないと 1D と 4D の差が、競争効果なのか「4倍の資金・在庫がある効果」なのか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区別できなくなる。制約が binding にならない水準に余裕を持たせる。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Meiryo UI"/>
              </a:rPr>
              <a:t>　一定範囲の空売り・借入を認め、各期の終了後に初期保有をリセットする。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9536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Meiryo UI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63656" cy="600456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406E"/>
                </a:solidFill>
                <a:latin typeface="Meiryo UI"/>
              </a:rPr>
              <a:t>実験2の手順（1期間の流れ）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963656" cy="4892040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30" b="1">
                <a:solidFill>
                  <a:srgbClr val="1E406E"/>
                </a:solidFill>
                <a:latin typeface="Meiryo UI"/>
              </a:rPr>
              <a:t>(1) 期の開始</a:t>
            </a:r>
          </a:p>
          <a:p>
            <a:pPr algn="l">
              <a:spcAft>
                <a:spcPts val="600"/>
              </a:spcAft>
            </a:pPr>
            <a:r>
              <a:rPr sz="1730" b="0">
                <a:solidFill>
                  <a:srgbClr val="1A1A1A"/>
                </a:solidFill>
                <a:latin typeface="Meiryo UI"/>
              </a:rPr>
              <a:t>　V を {100, 300, 500} から等確率で抽選する（被験者には知らせない）。</a:t>
            </a:r>
          </a:p>
          <a:p>
            <a:pPr algn="l">
              <a:spcAft>
                <a:spcPts val="600"/>
              </a:spcAft>
            </a:pPr>
            <a:r>
              <a:rPr sz="1730" b="0">
                <a:solidFill>
                  <a:srgbClr val="1A1A1A"/>
                </a:solidFill>
                <a:latin typeface="Meiryo UI"/>
              </a:rPr>
              <a:t>　informed trader に signal s_i を配る。uninformed には prior のみを表示する。</a:t>
            </a:r>
          </a:p>
          <a:p>
            <a:pPr algn="l">
              <a:spcAft>
                <a:spcPts val="600"/>
              </a:spcAft>
            </a:pPr>
            <a:r>
              <a:rPr sz="1730" b="0">
                <a:solidFill>
                  <a:srgbClr val="1A1A1A"/>
                </a:solidFill>
                <a:latin typeface="Meiryo UI"/>
              </a:rPr>
              <a:t>　流動性ショックを受ける trader をランダムに選び、本人にだけ通知する。</a:t>
            </a:r>
          </a:p>
          <a:p>
            <a:pPr algn="l">
              <a:spcAft>
                <a:spcPts val="600"/>
              </a:spcAft>
            </a:pPr>
            <a:endParaRPr sz="1730" b="0">
              <a:solidFill>
                <a:srgbClr val="1A1A1A"/>
              </a:solidFill>
              <a:latin typeface="Meiryo UI"/>
            </a:endParaRPr>
          </a:p>
          <a:p>
            <a:pPr algn="l">
              <a:spcAft>
                <a:spcPts val="600"/>
              </a:spcAft>
            </a:pPr>
            <a:r>
              <a:rPr sz="1730" b="1">
                <a:solidFill>
                  <a:srgbClr val="1E406E"/>
                </a:solidFill>
                <a:latin typeface="Meiryo UI"/>
              </a:rPr>
              <a:t>(2) 取引フェーズ（30秒 × 8ラウンド）</a:t>
            </a:r>
          </a:p>
          <a:p>
            <a:pPr algn="l">
              <a:spcAft>
                <a:spcPts val="600"/>
              </a:spcAft>
            </a:pPr>
            <a:r>
              <a:rPr sz="1730" b="0">
                <a:solidFill>
                  <a:srgbClr val="1A1A1A"/>
                </a:solidFill>
                <a:latin typeface="Meiryo UI"/>
              </a:rPr>
              <a:t>　Dealer は各ラウンドの初めに Bid と Ask を提示し、ラウンド中も随時更新できる。</a:t>
            </a:r>
          </a:p>
          <a:p>
            <a:pPr algn="l">
              <a:spcAft>
                <a:spcPts val="600"/>
              </a:spcAft>
            </a:pPr>
            <a:r>
              <a:rPr sz="1730" b="0">
                <a:solidFill>
                  <a:srgbClr val="1A1A1A"/>
                </a:solidFill>
                <a:latin typeface="Meiryo UI"/>
              </a:rPr>
              <a:t>　trader はランダムな順番で、買う / 売る / 何もしない を選ぶ。</a:t>
            </a:r>
          </a:p>
          <a:p>
            <a:pPr algn="l">
              <a:spcAft>
                <a:spcPts val="600"/>
              </a:spcAft>
            </a:pPr>
            <a:r>
              <a:rPr sz="1730" b="0">
                <a:solidFill>
                  <a:srgbClr val="1A1A1A"/>
                </a:solidFill>
                <a:latin typeface="Meiryo UI"/>
              </a:rPr>
              <a:t>　取引履歴（約定価格と方向）は全参加者に公開する。</a:t>
            </a:r>
          </a:p>
          <a:p>
            <a:pPr algn="l">
              <a:spcAft>
                <a:spcPts val="600"/>
              </a:spcAft>
            </a:pPr>
            <a:endParaRPr sz="1730" b="0">
              <a:solidFill>
                <a:srgbClr val="1A1A1A"/>
              </a:solidFill>
              <a:latin typeface="Meiryo UI"/>
            </a:endParaRPr>
          </a:p>
          <a:p>
            <a:pPr algn="l">
              <a:spcAft>
                <a:spcPts val="600"/>
              </a:spcAft>
            </a:pPr>
            <a:r>
              <a:rPr sz="1730" b="1">
                <a:solidFill>
                  <a:srgbClr val="1E406E"/>
                </a:solidFill>
                <a:latin typeface="Meiryo UI"/>
              </a:rPr>
              <a:t>(3) 期の終了と繰り返し</a:t>
            </a:r>
          </a:p>
          <a:p>
            <a:pPr algn="l">
              <a:spcAft>
                <a:spcPts val="600"/>
              </a:spcAft>
            </a:pPr>
            <a:r>
              <a:rPr sz="1730" b="0">
                <a:solidFill>
                  <a:srgbClr val="1A1A1A"/>
                </a:solidFill>
                <a:latin typeface="Meiryo UI"/>
              </a:rPr>
              <a:t>　V を公表し、保有株数 × V ＋ 現金 を各自の利得とする（Dealer も同様）。</a:t>
            </a:r>
          </a:p>
          <a:p>
            <a:pPr algn="l">
              <a:spcAft>
                <a:spcPts val="600"/>
              </a:spcAft>
            </a:pPr>
            <a:r>
              <a:rPr sz="1730" b="0">
                <a:solidFill>
                  <a:srgbClr val="1A1A1A"/>
                </a:solidFill>
                <a:latin typeface="Meiryo UI"/>
              </a:rPr>
              <a:t>　初期保有をリセットして次の期へ。1市場あたり 10期間を実施する。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9536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Meiryo UI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63656" cy="600456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406E"/>
                </a:solidFill>
                <a:latin typeface="Meiryo UI"/>
              </a:rPr>
              <a:t>実験2の成果変数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10963655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5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</a:rPr>
                        <a:t>指標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</a:rPr>
                        <a:t>定義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</a:rPr>
                        <a:t>読み方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Meiryo UI"/>
                        </a:rPr>
                        <a:t>spread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Spread_t = Ask_t − Bid_t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競争と逆選択の両方を反映する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Meiryo UI"/>
                        </a:rPr>
                        <a:t>midquote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Mid_t = ( Ask_t + Bid_t ) / 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Dealer が考える価値の中心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Meiryo UI"/>
                        </a:rPr>
                        <a:t>価格の正確さ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| Mid_t − V |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最重要。約定価格は spread のため常に V からずれる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Meiryo UI"/>
                        </a:rPr>
                        <a:t>取引量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Volume_t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spread が広いと取引が細る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Meiryo UI"/>
                        </a:rPr>
                        <a:t>Dealer 利得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DealerProfit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競争が利潤をどれだけ削るか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Meiryo UI"/>
                        </a:rPr>
                        <a:t>在庫・シェア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inventory、market share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4 Dealer 間の競争の中身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434840"/>
            <a:ext cx="10963656" cy="1583436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E406E"/>
                </a:solidFill>
                <a:latin typeface="Meiryo UI"/>
              </a:rPr>
              <a:t>約定価格ではなく midquote を見るのが要点である。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約定価格は spread の分だけ必ず V からずれるため、Dealer 市場の情報集約能力を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過小評価してしまう。中心は「midquote が V へどれだけ速く収束するか」と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「そのためにどれだけ spread を要求するか」の2点に置く。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9536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Meiryo UI"/>
              </a:rP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63656" cy="600456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406E"/>
                </a:solidFill>
                <a:latin typeface="Meiryo UI"/>
              </a:rPr>
              <a:t>実験2の予測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10963656" cy="2212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0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0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90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1D0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4D0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4D4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spread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最も広い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縮小する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最も狭い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取引量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少ない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増える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最も多い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| Mid − V |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大きい・収束が遅い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中程度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小さい・収束が速い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Dealer 利得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大きい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競争で縮小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さらに縮小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703320"/>
            <a:ext cx="10963656" cy="2560320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70" b="1">
                <a:solidFill>
                  <a:srgbClr val="1E406E"/>
                </a:solidFill>
                <a:latin typeface="Meiryo UI"/>
              </a:rPr>
              <a:t>検証したい仮説</a:t>
            </a:r>
          </a:p>
          <a:p>
            <a:pPr algn="l">
              <a:spcAft>
                <a:spcPts val="600"/>
              </a:spcAft>
            </a:pPr>
            <a:r>
              <a:rPr sz="1580" b="0">
                <a:solidFill>
                  <a:srgbClr val="1A1A1A"/>
                </a:solidFill>
                <a:latin typeface="Meiryo UI"/>
              </a:rPr>
              <a:t>H4　1D0 → 4D0 で spread が有意に縮小し、取引量が増える（競争効果）。</a:t>
            </a:r>
          </a:p>
          <a:p>
            <a:pPr algn="l">
              <a:spcAft>
                <a:spcPts val="600"/>
              </a:spcAft>
            </a:pPr>
            <a:r>
              <a:rPr sz="1580" b="0">
                <a:solidFill>
                  <a:srgbClr val="1A1A1A"/>
                </a:solidFill>
                <a:latin typeface="Meiryo UI"/>
              </a:rPr>
              <a:t>H5　4D0 → 4D4 で spread がさらに縮小する。この差が逆選択のコストにあたる。</a:t>
            </a:r>
          </a:p>
          <a:p>
            <a:pPr algn="l">
              <a:spcAft>
                <a:spcPts val="600"/>
              </a:spcAft>
            </a:pPr>
            <a:r>
              <a:rPr sz="1580" b="0">
                <a:solidFill>
                  <a:srgbClr val="1A1A1A"/>
                </a:solidFill>
                <a:latin typeface="Meiryo UI"/>
              </a:rPr>
              <a:t>H6　いずれの処置でも | Mid_t − V | はラウンド t を追って減少する</a:t>
            </a:r>
          </a:p>
          <a:p>
            <a:pPr algn="l">
              <a:spcAft>
                <a:spcPts val="600"/>
              </a:spcAft>
            </a:pPr>
            <a:r>
              <a:rPr sz="1580" b="0">
                <a:solidFill>
                  <a:srgbClr val="1A1A1A"/>
                </a:solidFill>
                <a:latin typeface="Meiryo UI"/>
              </a:rPr>
              <a:t>　　（Dealer が order flow から価値を学習する）。</a:t>
            </a:r>
          </a:p>
          <a:p>
            <a:pPr algn="l">
              <a:spcAft>
                <a:spcPts val="600"/>
              </a:spcAft>
            </a:pPr>
            <a:r>
              <a:rPr sz="1580" b="0">
                <a:solidFill>
                  <a:srgbClr val="1A1A1A"/>
                </a:solidFill>
                <a:latin typeface="Meiryo UI"/>
              </a:rPr>
              <a:t>H7　spread が広いこと自体は社会的損失ではない。spread のために本来成立する</a:t>
            </a:r>
          </a:p>
          <a:p>
            <a:pPr algn="l">
              <a:spcAft>
                <a:spcPts val="600"/>
              </a:spcAft>
            </a:pPr>
            <a:r>
              <a:rPr sz="1580" b="1">
                <a:solidFill>
                  <a:srgbClr val="1A1A1A"/>
                </a:solidFill>
                <a:latin typeface="Meiryo UI"/>
              </a:rPr>
              <a:t>　　はずの取引が成立しなくなったとき初めて非効率が生じる。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9536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Meiryo UI"/>
              </a:rP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63656" cy="600456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406E"/>
                </a:solidFill>
                <a:latin typeface="Meiryo UI"/>
              </a:rPr>
              <a:t>先行研究：Theissen (2000) と Krahnen &amp; Weber (2001)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89888"/>
          <a:ext cx="10963656" cy="3779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</a:rPr>
                        <a:t>Theissen (2000)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</a:rPr>
                        <a:t>Krahnen &amp; Weber (2001)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Meiryo UI"/>
                        </a:rPr>
                        <a:t>主目的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市場制度の比較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Dealer 競争 ＋ 逆選択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Meiryo UI"/>
                        </a:rPr>
                        <a:t>比較対象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Call / Continuous Auction / Competitive Dealer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CDA / 1 dealer / 4 dealers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Meiryo UI"/>
                        </a:rPr>
                        <a:t>情報構造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全員が同じ ex ante 精度の private signal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informed / uninformed を明示的に分ける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Meiryo UI"/>
                        </a:rPr>
                        <a:t>insider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意図的に作らない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informed trader あり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Meiryo UI"/>
                        </a:rPr>
                        <a:t>Dealer の情報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他の参加者と同種の分散情報環境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0人・2人・4人の dealer を informed に変える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92351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Meiryo UI"/>
                        </a:rPr>
                        <a:t>主な結果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個々の約定価格は Call と連続オークションのほうが V に近い。</a:t>
                      </a:r>
                    </a:p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Dealer は spread が大きく執行費用が高いが、midquote で見ると</a:t>
                      </a:r>
                    </a:p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情報集約能力は高い。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eiryo UI"/>
                        </a:rPr>
                        <a:t>4 dealers では spread が有意に縮小し、取引量が増える。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440680"/>
            <a:ext cx="10963656" cy="810768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本メモの実験2は Krahnen–Weber 型（1 vs 4 dealers、情報処置）を基礎とし、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成果変数に Theissen の midquote 評価を組み込む設計にしている。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9536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Meiryo UI"/>
              </a:rP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63656" cy="600456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406E"/>
                </a:solidFill>
                <a:latin typeface="Meiryo UI"/>
              </a:rPr>
              <a:t>大規模化にあたっての実装メモ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89888"/>
          <a:ext cx="10963656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6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論点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対処</a:t>
                      </a:r>
                    </a:p>
                  </a:txBody>
                  <a:tcPr marL="54864" marR="54864" marT="18288" marB="18288">
                    <a:solidFill>
                      <a:srgbClr val="1E4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反応速度の混入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Posted Offer の Buyer 順、Dealer 市場の trader 行動順を毎回ランダム化する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同値の約定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CDA は time priority。4 Dealer の同値気配はランダム割当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脱落・無反応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制限時間内に行動しなければ「何もしない」として処理し、市場は継続する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分析単位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市場（market）。市場内の期間・ラウンドは繰り返し測定として扱う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必要標本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実験1：12市場 × 16人 ＝ 192人　／　実験2：各処置8市場 × 13〜16人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検出力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市場を単位とすると各群8〜12市場。先行研究の spread 差は大きく、この規模で検出可能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Meiryo UI"/>
                        </a:rPr>
                        <a:t>事前登録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Meiryo UI"/>
                        </a:rPr>
                        <a:t>仮説 H1〜H7、主要成果変数、除外基準を実施前に固定する</a:t>
                      </a:r>
                    </a:p>
                  </a:txBody>
                  <a:tcPr marL="54864" marR="54864" marT="18288" marB="18288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349240"/>
            <a:ext cx="10963656" cy="810768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オンライン実施により、教室実験では取りにくい「期を追った収束速度」と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 UI"/>
              </a:rPr>
              <a:t>「市場間のばらつき」を、市場数を増やして直接推定できる点が大規模化の利点である。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9536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Meiryo UI"/>
              </a:rPr>
              <a:t>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63656" cy="600456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406E"/>
                </a:solidFill>
                <a:latin typeface="Meiryo UI"/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963656" cy="4892040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50" b="1">
                <a:solidFill>
                  <a:srgbClr val="1E406E"/>
                </a:solidFill>
                <a:latin typeface="Meiryo UI"/>
              </a:rPr>
              <a:t>実験1　CDA / Call / Posted Offer</a:t>
            </a:r>
          </a:p>
          <a:p>
            <a:pPr algn="l">
              <a:spcAft>
                <a:spcPts val="600"/>
              </a:spcAft>
            </a:pPr>
            <a:r>
              <a:rPr sz="1510" b="0">
                <a:solidFill>
                  <a:srgbClr val="1A1A1A"/>
                </a:solidFill>
                <a:latin typeface="Meiryo UI"/>
              </a:rPr>
              <a:t>・private-value 型の財市場。誘発価値を3制度で完全に共通にする。</a:t>
            </a:r>
          </a:p>
          <a:p>
            <a:pPr algn="l">
              <a:spcAft>
                <a:spcPts val="600"/>
              </a:spcAft>
            </a:pPr>
            <a:r>
              <a:rPr sz="1510" b="0">
                <a:solidFill>
                  <a:srgbClr val="1A1A1A"/>
                </a:solidFill>
                <a:latin typeface="Meiryo UI"/>
              </a:rPr>
              <a:t>・p* = 80、Q* = 10、W* = 440 が一意に定まるので、制度効果を直接測れる。</a:t>
            </a:r>
          </a:p>
          <a:p>
            <a:pPr algn="l">
              <a:spcAft>
                <a:spcPts val="600"/>
              </a:spcAft>
            </a:pPr>
            <a:r>
              <a:rPr sz="1510" b="0">
                <a:solidFill>
                  <a:srgbClr val="1A1A1A"/>
                </a:solidFill>
                <a:latin typeface="Meiryo UI"/>
              </a:rPr>
              <a:t>・Call の清算価格は全取引共通。Posted Offer の Buyer 順はランダム化する。</a:t>
            </a:r>
          </a:p>
          <a:p>
            <a:pPr algn="l">
              <a:spcAft>
                <a:spcPts val="600"/>
              </a:spcAft>
            </a:pPr>
            <a:endParaRPr sz="1510" b="0">
              <a:solidFill>
                <a:srgbClr val="1A1A1A"/>
              </a:solidFill>
              <a:latin typeface="Meiryo UI"/>
            </a:endParaRPr>
          </a:p>
          <a:p>
            <a:pPr algn="l">
              <a:spcAft>
                <a:spcPts val="600"/>
              </a:spcAft>
            </a:pPr>
            <a:r>
              <a:rPr sz="1850" b="1">
                <a:solidFill>
                  <a:srgbClr val="1E406E"/>
                </a:solidFill>
                <a:latin typeface="Meiryo UI"/>
              </a:rPr>
              <a:t>実験2　Dealer Market（1D0 / 4D0 / 4D4）</a:t>
            </a:r>
          </a:p>
          <a:p>
            <a:pPr algn="l">
              <a:spcAft>
                <a:spcPts val="600"/>
              </a:spcAft>
            </a:pPr>
            <a:r>
              <a:rPr sz="1510" b="0">
                <a:solidFill>
                  <a:srgbClr val="1A1A1A"/>
                </a:solidFill>
                <a:latin typeface="Meiryo UI"/>
              </a:rPr>
              <a:t>・common-value 型の資産市場。V ∈ {100, 300, 500} を等確率で抽選する。</a:t>
            </a:r>
          </a:p>
          <a:p>
            <a:pPr algn="l">
              <a:spcAft>
                <a:spcPts val="600"/>
              </a:spcAft>
            </a:pPr>
            <a:r>
              <a:rPr sz="1510" b="0">
                <a:solidFill>
                  <a:srgbClr val="1A1A1A"/>
                </a:solidFill>
                <a:latin typeface="Meiryo UI"/>
              </a:rPr>
              <a:t>・1 vs 4 dealers から競争効果、uninformed vs informed から逆選択効果を分離する。</a:t>
            </a:r>
          </a:p>
          <a:p>
            <a:pPr algn="l">
              <a:spcAft>
                <a:spcPts val="600"/>
              </a:spcAft>
            </a:pPr>
            <a:r>
              <a:rPr sz="1510" b="0">
                <a:solidFill>
                  <a:srgbClr val="1A1A1A"/>
                </a:solidFill>
                <a:latin typeface="Meiryo UI"/>
              </a:rPr>
              <a:t>・1D と 4D で Dealer 側の総資金・総在庫を揃えることが設計上の要点。</a:t>
            </a:r>
          </a:p>
          <a:p>
            <a:pPr algn="l">
              <a:spcAft>
                <a:spcPts val="600"/>
              </a:spcAft>
            </a:pPr>
            <a:endParaRPr sz="1510" b="0">
              <a:solidFill>
                <a:srgbClr val="1A1A1A"/>
              </a:solidFill>
              <a:latin typeface="Meiryo UI"/>
            </a:endParaRPr>
          </a:p>
          <a:p>
            <a:pPr algn="l">
              <a:spcAft>
                <a:spcPts val="600"/>
              </a:spcAft>
            </a:pPr>
            <a:r>
              <a:rPr sz="1850" b="1">
                <a:solidFill>
                  <a:srgbClr val="1E406E"/>
                </a:solidFill>
                <a:latin typeface="Meiryo UI"/>
              </a:rPr>
              <a:t>共通の軸</a:t>
            </a:r>
          </a:p>
          <a:p>
            <a:pPr algn="l">
              <a:spcAft>
                <a:spcPts val="600"/>
              </a:spcAft>
            </a:pPr>
            <a:r>
              <a:rPr sz="1510" b="0">
                <a:solidFill>
                  <a:srgbClr val="1A1A1A"/>
                </a:solidFill>
                <a:latin typeface="Meiryo UI"/>
              </a:rPr>
              <a:t>・Institution → Price discovery → Liquidity → Allocative efficiency。</a:t>
            </a:r>
          </a:p>
          <a:p>
            <a:pPr algn="l">
              <a:spcAft>
                <a:spcPts val="600"/>
              </a:spcAft>
            </a:pPr>
            <a:r>
              <a:rPr sz="1510" b="0">
                <a:solidFill>
                  <a:srgbClr val="1A1A1A"/>
                </a:solidFill>
                <a:latin typeface="Meiryo UI"/>
              </a:rPr>
              <a:t>・社会厚生は W = Σ(v − c)。取引量 × 価格ではない。</a:t>
            </a:r>
          </a:p>
          <a:p>
            <a:pPr algn="l">
              <a:spcAft>
                <a:spcPts val="600"/>
              </a:spcAft>
            </a:pPr>
            <a:r>
              <a:rPr sz="1510" b="0">
                <a:solidFill>
                  <a:srgbClr val="1A1A1A"/>
                </a:solidFill>
                <a:latin typeface="Meiryo UI"/>
              </a:rPr>
              <a:t>・価格収束と効率性は一致しないことがある。両者を分けて報告する。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2173</TotalTime>
  <Words>3343</Words>
  <Application>Microsoft Office PowerPoint</Application>
  <PresentationFormat>ワイド画面</PresentationFormat>
  <Paragraphs>710</Paragraphs>
  <Slides>31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31</vt:i4>
      </vt:variant>
    </vt:vector>
  </HeadingPairs>
  <TitlesOfParts>
    <vt:vector size="36" baseType="lpstr">
      <vt:lpstr>Meiryo UI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Shimokawa Tetsuya</dc:creator>
  <cp:lastModifiedBy>下川　哲矢</cp:lastModifiedBy>
  <cp:revision>31</cp:revision>
  <cp:lastPrinted>2025-04-18T06:25:35Z</cp:lastPrinted>
  <dcterms:created xsi:type="dcterms:W3CDTF">2020-09-04T01:31:47Z</dcterms:created>
  <dcterms:modified xsi:type="dcterms:W3CDTF">2026-09-28T08:32:20Z</dcterms:modified>
</cp:coreProperties>
</file>